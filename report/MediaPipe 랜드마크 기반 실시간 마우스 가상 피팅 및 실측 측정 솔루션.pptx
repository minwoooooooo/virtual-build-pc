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hiyo0XSxPHYisGB1HkbXG3vSwg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58E384E-CF4B-4159-911B-06D53F5A0AA0}">
  <a:tblStyle styleId="{B58E384E-CF4B-4159-911B-06D53F5A0AA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b4dad8aa3a_0_1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g3b4dad8aa3a_0_1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b4dad8aa3a_0_1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4dad8aa3a_0_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b4dad8aa3a_0_1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b4dad8aa3a_0_1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4dad8aa3a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b4dad8aa3a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b4dad8aa3a_0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4dad8aa3a_0_5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b4dad8aa3a_0_5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b4dad8aa3a_0_5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4dad8aa3a_0_1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b4dad8aa3a_0_1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b4dad8aa3a_0_1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4dad8aa3a_0_2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b4dad8aa3a_0_2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b4dad8aa3a_0_29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4dad8aa3a_0_3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b4dad8aa3a_0_3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b4dad8aa3a_0_3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b4dad8aa3a_0_3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b4dad8aa3a_0_3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b4dad8aa3a_0_3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4dad8aa3a_0_3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b4dad8aa3a_0_3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b4dad8aa3a_0_3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b4dad8aa3a_0_4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3b4dad8aa3a_0_4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b4dad8aa3a_0_4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b4dad8aa3a_0_4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b4dad8aa3a_0_4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b4dad8aa3a_0_40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b4dad8aa3a_0_4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3b4dad8aa3a_0_4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b4dad8aa3a_0_4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b4dad8aa3a_0_4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g3b4dad8aa3a_0_4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b4dad8aa3a_0_4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b4dad8aa3a_0_5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g3b4dad8aa3a_0_5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b4dad8aa3a_0_5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b4dad8aa3a_0_5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g3b4dad8aa3a_0_5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b4dad8aa3a_0_5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b4dad8aa3a_0_5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g3b4dad8aa3a_0_5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b4dad8aa3a_0_5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6.png"/><Relationship Id="rId6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9" Type="http://schemas.openxmlformats.org/officeDocument/2006/relationships/image" Target="../media/image24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5.png"/><Relationship Id="rId8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Relationship Id="rId6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9.png"/><Relationship Id="rId4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076D2"/>
            </a:gs>
            <a:gs pos="100000">
              <a:srgbClr val="093053"/>
            </a:gs>
          </a:gsLst>
          <a:lin ang="13500032" scaled="0"/>
        </a:gra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1809750" y="1369725"/>
            <a:ext cx="5524500" cy="1508700"/>
          </a:xfrm>
          <a:prstGeom prst="rect">
            <a:avLst/>
          </a:prstGeom>
          <a:noFill/>
          <a:ln>
            <a:noFill/>
          </a:ln>
          <a:effectLst>
            <a:outerShdw rotWithShape="0" algn="bl" dir="6120000" dist="19050">
              <a:srgbClr val="000000">
                <a:alpha val="52000"/>
              </a:srgbClr>
            </a:outerShdw>
          </a:effectLst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1469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93"/>
              <a:buFont typeface="Calibri"/>
              <a:buNone/>
            </a:pPr>
            <a:r>
              <a:rPr b="1" lang="en-US" sz="2700">
                <a:solidFill>
                  <a:schemeClr val="lt1"/>
                </a:solidFill>
              </a:rPr>
              <a:t>MediaPipe 랜드마크 기반 실시간 마우스 가상 피팅 및 실측 측정 솔루션</a:t>
            </a:r>
            <a:endParaRPr i="0" sz="2700" u="none" cap="none" strike="noStrike">
              <a:solidFill>
                <a:schemeClr val="lt1"/>
              </a:solidFill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895350" y="2721838"/>
            <a:ext cx="7353300" cy="5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10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04"/>
              <a:buFont typeface="Calibri"/>
              <a:buNone/>
            </a:pPr>
            <a:r>
              <a:rPr lang="en-US" sz="1100">
                <a:solidFill>
                  <a:schemeClr val="lt1"/>
                </a:solidFill>
              </a:rPr>
              <a:t>Deep Learning-based Hand Tracking and Geometric Calibration for Real-size AR Device Simulation</a:t>
            </a:r>
            <a:endParaRPr i="0" sz="1100" u="none" cap="none" strike="noStrike">
              <a:solidFill>
                <a:schemeClr val="lt1"/>
              </a:solidFill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705150" y="3348150"/>
            <a:ext cx="17337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발표자 : 박민우</a:t>
            </a:r>
            <a:endParaRPr b="1" i="0" sz="1300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410300" y="4700700"/>
            <a:ext cx="17337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2026.01.06(수)</a:t>
            </a:r>
            <a:endParaRPr b="0" i="0" sz="1300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533400" y="154700"/>
            <a:ext cx="8077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602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목차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" name="Google Shape;26;p2"/>
          <p:cNvCxnSpPr/>
          <p:nvPr/>
        </p:nvCxnSpPr>
        <p:spPr>
          <a:xfrm>
            <a:off x="533400" y="747575"/>
            <a:ext cx="8077200" cy="0"/>
          </a:xfrm>
          <a:prstGeom prst="straightConnector1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" name="Google Shape;27;p2"/>
          <p:cNvSpPr/>
          <p:nvPr/>
        </p:nvSpPr>
        <p:spPr>
          <a:xfrm>
            <a:off x="533400" y="942100"/>
            <a:ext cx="8077200" cy="6168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t/>
            </a:r>
            <a:endParaRPr b="0" i="0" sz="1602" u="none" cap="none" strike="noStrike">
              <a:solidFill>
                <a:schemeClr val="dk1"/>
              </a:solidFill>
              <a:highlight>
                <a:srgbClr val="F6B26B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533400" y="1757297"/>
            <a:ext cx="8077200" cy="6168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t/>
            </a:r>
            <a:endParaRPr b="0" i="0" sz="1602" u="none" cap="none" strike="noStrike">
              <a:solidFill>
                <a:schemeClr val="dk1"/>
              </a:solidFill>
              <a:highlight>
                <a:srgbClr val="F6B26B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33400" y="2572493"/>
            <a:ext cx="8077200" cy="6168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t/>
            </a:r>
            <a:endParaRPr b="0" i="0" sz="1602" u="none" cap="none" strike="noStrike">
              <a:solidFill>
                <a:schemeClr val="dk1"/>
              </a:solidFill>
              <a:highlight>
                <a:srgbClr val="F6B26B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33400" y="3387690"/>
            <a:ext cx="8077200" cy="6168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t/>
            </a:r>
            <a:endParaRPr b="0" i="0" sz="1602" u="none" cap="none" strike="noStrike">
              <a:solidFill>
                <a:schemeClr val="dk1"/>
              </a:solidFill>
              <a:highlight>
                <a:srgbClr val="F6B26B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" name="Google Shape;3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00" y="282011"/>
            <a:ext cx="340599" cy="34057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"/>
          <p:cNvSpPr/>
          <p:nvPr/>
        </p:nvSpPr>
        <p:spPr>
          <a:xfrm>
            <a:off x="685525" y="1069157"/>
            <a:ext cx="347400" cy="359700"/>
          </a:xfrm>
          <a:prstGeom prst="roundRect">
            <a:avLst>
              <a:gd fmla="val 16667" name="adj"/>
            </a:avLst>
          </a:prstGeom>
          <a:solidFill>
            <a:srgbClr val="0066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1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238250" y="969820"/>
            <a:ext cx="71628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3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프로젝트 개요 및 목적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85525" y="1884574"/>
            <a:ext cx="347400" cy="359700"/>
          </a:xfrm>
          <a:prstGeom prst="roundRect">
            <a:avLst>
              <a:gd fmla="val 16667" name="adj"/>
            </a:avLst>
          </a:prstGeom>
          <a:solidFill>
            <a:srgbClr val="0066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2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238250" y="1785237"/>
            <a:ext cx="71628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3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기술 스택 및 사용 라이브러리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85525" y="2699771"/>
            <a:ext cx="347400" cy="359700"/>
          </a:xfrm>
          <a:prstGeom prst="roundRect">
            <a:avLst>
              <a:gd fmla="val 16667" name="adj"/>
            </a:avLst>
          </a:prstGeom>
          <a:solidFill>
            <a:srgbClr val="0066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3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238250" y="2600433"/>
            <a:ext cx="71628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3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핵심 로직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85525" y="3514967"/>
            <a:ext cx="347400" cy="359700"/>
          </a:xfrm>
          <a:prstGeom prst="roundRect">
            <a:avLst>
              <a:gd fmla="val 16667" name="adj"/>
            </a:avLst>
          </a:prstGeom>
          <a:solidFill>
            <a:srgbClr val="0066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4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238250" y="3415630"/>
            <a:ext cx="71628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3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화면 구성 및 프로그램 시연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238250" y="1273034"/>
            <a:ext cx="71628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lang="en-US" sz="1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온라인 마우스 구매 시 사이즈, 그립감 등의 불확실성 해결을 위한 실측 기반 접근</a:t>
            </a:r>
            <a:endParaRPr i="0" sz="10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238250" y="2096567"/>
            <a:ext cx="71628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lang="en-US" sz="1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Google MediaPipe Hands 모델을 활용한 3D hand 손 추적 및 랜드마크 추출</a:t>
            </a:r>
            <a:endParaRPr i="0" sz="10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238250" y="2915128"/>
            <a:ext cx="71628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lang="en-US" sz="1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DPI 기반 픽셀-물리 거리 변환 및 실시간 캘리브레이션 알고리즘</a:t>
            </a:r>
            <a:endParaRPr i="0" sz="10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238250" y="3718935"/>
            <a:ext cx="71628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lang="en-US" sz="1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UX/UI 설명 및 전체 프로그램 실행 흐름 안내</a:t>
            </a:r>
            <a:endParaRPr i="0" sz="10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33400" y="4202916"/>
            <a:ext cx="8077200" cy="6168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t/>
            </a:r>
            <a:endParaRPr b="0" i="0" sz="1602" u="none" cap="none" strike="noStrike">
              <a:solidFill>
                <a:schemeClr val="dk1"/>
              </a:solidFill>
              <a:highlight>
                <a:srgbClr val="F6B26B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85525" y="4330206"/>
            <a:ext cx="347400" cy="359700"/>
          </a:xfrm>
          <a:prstGeom prst="roundRect">
            <a:avLst>
              <a:gd fmla="val 16667" name="adj"/>
            </a:avLst>
          </a:prstGeom>
          <a:solidFill>
            <a:srgbClr val="0066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5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238250" y="4230869"/>
            <a:ext cx="71628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3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결과 및 결론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238250" y="4544941"/>
            <a:ext cx="71628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lang="en-US" sz="1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타 IT 기기로의 확장 가능성과 비즈니스 임팩트</a:t>
            </a:r>
            <a:endParaRPr i="0" sz="10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b4dad8aa3a_0_155"/>
          <p:cNvSpPr/>
          <p:nvPr/>
        </p:nvSpPr>
        <p:spPr>
          <a:xfrm>
            <a:off x="533400" y="154700"/>
            <a:ext cx="8077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2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1" lang="en-US" sz="1602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프로젝트 개요 및 목적[1]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" name="Google Shape;54;g3b4dad8aa3a_0_155"/>
          <p:cNvCxnSpPr/>
          <p:nvPr/>
        </p:nvCxnSpPr>
        <p:spPr>
          <a:xfrm>
            <a:off x="533400" y="747575"/>
            <a:ext cx="8077200" cy="0"/>
          </a:xfrm>
          <a:prstGeom prst="straightConnector1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" name="Google Shape;55;g3b4dad8aa3a_0_155"/>
          <p:cNvSpPr/>
          <p:nvPr/>
        </p:nvSpPr>
        <p:spPr>
          <a:xfrm>
            <a:off x="533400" y="946125"/>
            <a:ext cx="2424600" cy="2159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t/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t/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온라인 마우스 구매 시</a:t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크기 및 그립감 체험 불가</a:t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lang="en-US" sz="1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손 크기와 그립 스타일에 따른 체감 크기</a:t>
            </a:r>
            <a:endParaRPr sz="10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lang="en-US" sz="1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불일치로 인한 구매 실패 사례 발생</a:t>
            </a:r>
            <a:endParaRPr sz="10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g3b4dad8aa3a_0_155"/>
          <p:cNvSpPr/>
          <p:nvPr/>
        </p:nvSpPr>
        <p:spPr>
          <a:xfrm>
            <a:off x="3359712" y="946125"/>
            <a:ext cx="2424600" cy="2159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t/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t/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리뷰</a:t>
            </a:r>
            <a:r>
              <a:rPr b="1" lang="en-US" sz="1500">
                <a:solidFill>
                  <a:srgbClr val="1E3A8A"/>
                </a:solidFill>
              </a:rPr>
              <a:t>·</a:t>
            </a:r>
            <a:r>
              <a:rPr b="1" lang="en-US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스펙 의존 구매의 </a:t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한계 및 불확실성</a:t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lang="en-US" sz="1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마우스 스펙에 대한 체감의 어려움으로</a:t>
            </a:r>
            <a:endParaRPr sz="10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lang="en-US" sz="1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온라인 구매시 불확실성이 존재</a:t>
            </a:r>
            <a:endParaRPr sz="1482">
              <a:solidFill>
                <a:schemeClr val="dk1"/>
              </a:solidFill>
              <a:highlight>
                <a:srgbClr val="F6B26B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g3b4dad8aa3a_0_155"/>
          <p:cNvSpPr/>
          <p:nvPr/>
        </p:nvSpPr>
        <p:spPr>
          <a:xfrm>
            <a:off x="6185999" y="946125"/>
            <a:ext cx="2424600" cy="2159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t/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t/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비접촉 온라인 환경에서의</a:t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 실물 크기 기반 UX 필요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lang="en-US" sz="1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물리적 크기를 정확히 재현하여 </a:t>
            </a:r>
            <a:endParaRPr sz="10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lang="en-US" sz="1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온라인 쇼핑에 대한 유저의 체감을 개선</a:t>
            </a:r>
            <a:endParaRPr sz="10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0000F5&quot;&gt;&lt;path d=&quot;M280-80q-33 0-56.5-23.5T200-160q0-33 23.5-56.5T280-240q33 0 56.5 23.5T360-160q0 33-23.5 56.5T280-80Zm400 0q-33 0-56.5-23.5T600-160q0-33 23.5-56.5T680-240q33 0 56.5 23.5T760-160q0 33-23.5 56.5T680-80ZM246-720l96 200h280l110-200H246Zm-38-80h590q23 0 35 20.5t1 41.5L692-482q-11 20-29.5 31T622-440H324l-44 80h480v80H280q-45 0-68-39.5t-2-78.5l54-98-144-304H40v-80h130l38 80Zm134 280h280-280Z&quot;/&gt;&lt;/svg&gt;" id="58" name="Google Shape;58;g3b4dad8aa3a_0_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0625" y="1184650"/>
            <a:ext cx="532674" cy="514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000F5&quot;&gt;&lt;path d=&quot;M218-320q-42 0-75.5-27T100-416L71-550l-44 3-7-80q78-7 133.5-10t99.5-3q65 0 105 6t72 21q14 7 26.5 10t23.5 3q11 0 21.5-3t24.5-9q33-15 76-21.5t114-6.5q46 0 102 3t122 9l-7 79-43-3-30 137q-9 42-42 68.5T743-320h-89q-42 0-74-25.5T538-411l-27-107h-61l-27 107q-11 41-43 66t-73 25h-89Zm-40-112q3 14 14 23t25 9h89q14 0 25-8.5t14-21.5l31-121q-27-5-61-6.5t-62-1.5q-23 0-49.5.5T154-556l24 124Zm437 2q3 13 14 21.5t25 8.5h89q14 0 25-9t14-23l26-125q-20-1-46-1.5t-46-.5q-30 0-66.5 1.5T584-551l31 121Z&quot;/&gt;&lt;/svg&gt;" id="59" name="Google Shape;59;g3b4dad8aa3a_0_1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23083" y="1165212"/>
            <a:ext cx="572892" cy="55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000F5&quot;&gt;&lt;path d=&quot;M824-80 716-188q-22 13-46 20.5t-50 7.5q-75 0-127.5-52.5T440-340q0-75 52.5-127.5T620-520q75 0 127.5 52.5T800-340q0 26-7.5 50T772-244l108 108-56 56ZM620-240q42 0 71-29t29-71q0-42-29-71t-71-29q-42 0-71 29t-29 71q0 42 29 71t71 29Zm220-320h-80v-200h-80v120H280v-120h-80v560h200v80H200q-33 0-56.5-23.5T120-200v-560q0-33 23.5-56.5T200-840h167q11-35 43-57.5t70-22.5q40 0 71.5 22.5T594-840h166q33 0 56.5 23.5T840-760v200ZM480-760q17 0 28.5-11.5T520-800q0-17-11.5-28.5T480-840q-17 0-28.5 11.5T440-800q0 17 11.5 28.5T480-760Z&quot;/&gt;&lt;/svg&gt;" id="60" name="Google Shape;60;g3b4dad8aa3a_0_1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28275" y="1198363"/>
            <a:ext cx="487450" cy="48745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3b4dad8aa3a_0_155"/>
          <p:cNvSpPr/>
          <p:nvPr/>
        </p:nvSpPr>
        <p:spPr>
          <a:xfrm>
            <a:off x="533400" y="3301450"/>
            <a:ext cx="8077200" cy="1521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t/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t/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b4dad8aa3a_0_155"/>
          <p:cNvSpPr/>
          <p:nvPr/>
        </p:nvSpPr>
        <p:spPr>
          <a:xfrm>
            <a:off x="752200" y="3522275"/>
            <a:ext cx="246900" cy="246900"/>
          </a:xfrm>
          <a:prstGeom prst="roundRect">
            <a:avLst>
              <a:gd fmla="val 16667" name="adj"/>
            </a:avLst>
          </a:prstGeom>
          <a:solidFill>
            <a:srgbClr val="0066CC"/>
          </a:solidFill>
          <a:ln cap="flat" cmpd="sng" w="6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950" lIns="64950" spcFirstLastPara="1" rIns="64950" wrap="square" tIns="6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94">
                <a:solidFill>
                  <a:schemeClr val="lt1"/>
                </a:solidFill>
              </a:rPr>
              <a:t>1</a:t>
            </a:r>
            <a:endParaRPr b="1" sz="994">
              <a:solidFill>
                <a:schemeClr val="lt1"/>
              </a:solidFill>
            </a:endParaRPr>
          </a:p>
        </p:txBody>
      </p:sp>
      <p:sp>
        <p:nvSpPr>
          <p:cNvPr id="63" name="Google Shape;63;g3b4dad8aa3a_0_155"/>
          <p:cNvSpPr/>
          <p:nvPr/>
        </p:nvSpPr>
        <p:spPr>
          <a:xfrm>
            <a:off x="1159329" y="3473675"/>
            <a:ext cx="18876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3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실측 데이터 매핑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g3b4dad8aa3a_0_155"/>
          <p:cNvSpPr/>
          <p:nvPr/>
        </p:nvSpPr>
        <p:spPr>
          <a:xfrm>
            <a:off x="752200" y="3955200"/>
            <a:ext cx="246900" cy="246900"/>
          </a:xfrm>
          <a:prstGeom prst="roundRect">
            <a:avLst>
              <a:gd fmla="val 16667" name="adj"/>
            </a:avLst>
          </a:prstGeom>
          <a:solidFill>
            <a:srgbClr val="0066CC"/>
          </a:solidFill>
          <a:ln cap="flat" cmpd="sng" w="6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950" lIns="64950" spcFirstLastPara="1" rIns="64950" wrap="square" tIns="6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94">
                <a:solidFill>
                  <a:schemeClr val="lt1"/>
                </a:solidFill>
              </a:rPr>
              <a:t>2</a:t>
            </a:r>
            <a:endParaRPr b="1" sz="994">
              <a:solidFill>
                <a:schemeClr val="lt1"/>
              </a:solidFill>
            </a:endParaRPr>
          </a:p>
        </p:txBody>
      </p:sp>
      <p:sp>
        <p:nvSpPr>
          <p:cNvPr id="65" name="Google Shape;65;g3b4dad8aa3a_0_155"/>
          <p:cNvSpPr/>
          <p:nvPr/>
        </p:nvSpPr>
        <p:spPr>
          <a:xfrm>
            <a:off x="752200" y="4388125"/>
            <a:ext cx="246900" cy="246900"/>
          </a:xfrm>
          <a:prstGeom prst="roundRect">
            <a:avLst>
              <a:gd fmla="val 16667" name="adj"/>
            </a:avLst>
          </a:prstGeom>
          <a:solidFill>
            <a:srgbClr val="0066CC"/>
          </a:solidFill>
          <a:ln cap="flat" cmpd="sng" w="6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950" lIns="64950" spcFirstLastPara="1" rIns="64950" wrap="square" tIns="6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94">
                <a:solidFill>
                  <a:schemeClr val="lt1"/>
                </a:solidFill>
              </a:rPr>
              <a:t>3</a:t>
            </a:r>
            <a:endParaRPr b="1" sz="994">
              <a:solidFill>
                <a:schemeClr val="lt1"/>
              </a:solidFill>
            </a:endParaRPr>
          </a:p>
        </p:txBody>
      </p:sp>
      <p:sp>
        <p:nvSpPr>
          <p:cNvPr id="66" name="Google Shape;66;g3b4dad8aa3a_0_155"/>
          <p:cNvSpPr/>
          <p:nvPr/>
        </p:nvSpPr>
        <p:spPr>
          <a:xfrm>
            <a:off x="1159300" y="3906600"/>
            <a:ext cx="1945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3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데이터 기반 의사결정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g3b4dad8aa3a_0_155"/>
          <p:cNvSpPr/>
          <p:nvPr/>
        </p:nvSpPr>
        <p:spPr>
          <a:xfrm>
            <a:off x="1159300" y="4339525"/>
            <a:ext cx="18876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3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범용 플랫폼 지향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g3b4dad8aa3a_0_155"/>
          <p:cNvSpPr/>
          <p:nvPr/>
        </p:nvSpPr>
        <p:spPr>
          <a:xfrm>
            <a:off x="3359814" y="3473675"/>
            <a:ext cx="47763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1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온라인 쇼핑에서의 물리적 한계 극복을 위한 정밀한 AR 피팅 솔루션 구축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g3b4dad8aa3a_0_155"/>
          <p:cNvSpPr/>
          <p:nvPr/>
        </p:nvSpPr>
        <p:spPr>
          <a:xfrm>
            <a:off x="3359814" y="3906600"/>
            <a:ext cx="47763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1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길이 및 너비 오차율을 사용자에게 정량적으로 제시해 최적의 마우스 선택 지원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g3b4dad8aa3a_0_155"/>
          <p:cNvSpPr/>
          <p:nvPr/>
        </p:nvSpPr>
        <p:spPr>
          <a:xfrm>
            <a:off x="3359814" y="4339525"/>
            <a:ext cx="47763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1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스마트폰, 태블릿 등 스펙 기반의 모든 하드웨어로 확장 가능한 범용 피팅 구조 설계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4dad8aa3a_0_102"/>
          <p:cNvSpPr/>
          <p:nvPr/>
        </p:nvSpPr>
        <p:spPr>
          <a:xfrm>
            <a:off x="533400" y="154700"/>
            <a:ext cx="8077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602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1" lang="en-US" sz="1602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프로젝트 개요 및 목적[2]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" name="Google Shape;77;g3b4dad8aa3a_0_102"/>
          <p:cNvCxnSpPr/>
          <p:nvPr/>
        </p:nvCxnSpPr>
        <p:spPr>
          <a:xfrm>
            <a:off x="533400" y="747575"/>
            <a:ext cx="8077200" cy="0"/>
          </a:xfrm>
          <a:prstGeom prst="straightConnector1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g3b4dad8aa3a_0_102"/>
          <p:cNvSpPr/>
          <p:nvPr/>
        </p:nvSpPr>
        <p:spPr>
          <a:xfrm>
            <a:off x="533400" y="1219200"/>
            <a:ext cx="1686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t/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t/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t/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MediaPipe Hands</a:t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lang="en-US" sz="1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21개 손 랜드마크 3D 좌표 추출</a:t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3b4dad8aa3a_0_102"/>
          <p:cNvSpPr/>
          <p:nvPr/>
        </p:nvSpPr>
        <p:spPr>
          <a:xfrm>
            <a:off x="2669388" y="1219200"/>
            <a:ext cx="1686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t/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t/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t/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캘리브레이션</a:t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lang="en-US" sz="1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카메라-손 거리 변화 보정</a:t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g3b4dad8aa3a_0_102"/>
          <p:cNvSpPr/>
          <p:nvPr/>
        </p:nvSpPr>
        <p:spPr>
          <a:xfrm>
            <a:off x="4796988" y="1219200"/>
            <a:ext cx="1686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t/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t/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t/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픽셀-mm 변환</a:t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lang="en-US" sz="1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DPI 기반 실물 크기 재현</a:t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g3b4dad8aa3a_0_102"/>
          <p:cNvSpPr/>
          <p:nvPr/>
        </p:nvSpPr>
        <p:spPr>
          <a:xfrm>
            <a:off x="6924600" y="1219200"/>
            <a:ext cx="1686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t/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t/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t/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피팅 UI</a:t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lang="en-US" sz="1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측정-그립 시뮬레이션</a:t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&lt;svg xmlns=&quot;http://www.w3.org/2000/svg&quot; height=&quot;48px&quot; viewBox=&quot;0 -960 960 960&quot; width=&quot;48px&quot; fill=&quot;#0000F5&quot;&gt;&lt;path d=&quot;M507-40q-93 0-171.5-47.5T209-215L60-463l20-20q16-16 38-17.5t40 11.5l122 90v-411q0-12 8.5-21t21.5-9q12 0 21 9t9 21v528L161-414l98 164q38 69 104 109.5T507-100q113 0 193-78t80-190v-402q0-12 8.5-21t21.5-9q12 0 21 9t9 21v402q0 137-97.5 232.5T507-40Zm-60-450v-400q0-12 9-21t21-9q13 0 21.5 9t8.5 21v400h-60Zm167 0v-360q0-12 8.5-21t21.5-9q12 0 21 9t9 21v360h-60ZM471-295Z&quot;/&gt;&lt;/svg&gt;" id="82" name="Google Shape;82;g3b4dad8aa3a_0_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0650" y="146685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48px&quot; viewBox=&quot;0 -960 960 960&quot; width=&quot;48px&quot; fill=&quot;#0000F5&quot;&gt;&lt;path d=&quot;M140-240q-24 0-42-18t-18-42v-360q0-23 18-41.5t42-18.5h680q24 0 42 18.5t18 41.5v360q0 24-18 42t-42 18H140Zm0-60h680v-360H690v180h-60v-180H510v180h-60v-180H330v180h-60v-180H140v360Zm130-180h60-60Zm180 0h60-60Zm180 0h60-60Zm-150 0Z&quot;/&gt;&lt;/svg&gt;" id="83" name="Google Shape;83;g3b4dad8aa3a_0_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2450" y="146685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48px&quot; viewBox=&quot;0 -960 960 960&quot; width=&quot;48px&quot; fill=&quot;#0000F5&quot;&gt;&lt;path d=&quot;M196-331q-20-36-28-72.5t-8-74.5q0-131 94.5-225.5T480-798h43l-80-80 39-39 149 149-149 149-40-40 79-79h-41q-107 0-183.5 76.5T220-478q0 29 5.5 55t13.5 49l-43 43ZM476-40 327-189l149-149 39 39-80 80h45q107 0 183.5-76.5T740-479q0-29-5-55t-15-49l43-43q20 36 28.5 72.5T800-479q0 131-94.5 225.5T480-159h-45l80 80-39 39Z&quot;/&gt;&lt;/svg&gt;" id="84" name="Google Shape;84;g3b4dad8aa3a_0_1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54250" y="146685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48px&quot; viewBox=&quot;0 -960 960 960&quot; width=&quot;48px&quot; fill=&quot;#0000F5&quot;&gt;&lt;path d=&quot;M480-80q-118 0-199-81t-81-199v-260q0-118 81-199t199-81q118 0 199 81t81 199v260q0 118-81 199T480-80Zm30-540h190q0-81-53-144t-137-74v218Zm-250 0h190v-218q-84 11-137 74t-53 144Zm219.79 480q91.21 0 155.71-64.35Q700-268.7 700-360v-200H260v200q0 91.3 64.29 155.65Q388.58-140 479.79-140Zm.21-420Zm30-60Zm-60 0Zm30 60Z&quot;/&gt;&lt;/svg&gt;" id="85" name="Google Shape;85;g3b4dad8aa3a_0_10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86050" y="14668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3b4dad8aa3a_0_102"/>
          <p:cNvSpPr/>
          <p:nvPr/>
        </p:nvSpPr>
        <p:spPr>
          <a:xfrm>
            <a:off x="533400" y="3276600"/>
            <a:ext cx="8077200" cy="1059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3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r>
              <a:rPr b="1" lang="en-US" sz="13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핵심 전략</a:t>
            </a:r>
            <a:endParaRPr b="1" sz="13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t/>
            </a:r>
            <a:endParaRPr b="1" sz="6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1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정밀한 3D 손 추적과 자체 설계한 캘리브레이션 알고리즘을 결합, 2D 화면에서도 실물 크기 기반 정확한 마우스 크기 및 그립감을 제공</a:t>
            </a:r>
            <a:endParaRPr b="1" sz="11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g3b4dad8aa3a_0_102"/>
          <p:cNvCxnSpPr/>
          <p:nvPr/>
        </p:nvCxnSpPr>
        <p:spPr>
          <a:xfrm flipH="1">
            <a:off x="532800" y="3276600"/>
            <a:ext cx="600" cy="1059600"/>
          </a:xfrm>
          <a:prstGeom prst="straightConnector1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g3b4dad8aa3a_0_102"/>
          <p:cNvCxnSpPr/>
          <p:nvPr/>
        </p:nvCxnSpPr>
        <p:spPr>
          <a:xfrm flipH="1">
            <a:off x="8610600" y="3276600"/>
            <a:ext cx="600" cy="1059600"/>
          </a:xfrm>
          <a:prstGeom prst="straightConnector1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4dad8aa3a_0_31"/>
          <p:cNvSpPr/>
          <p:nvPr/>
        </p:nvSpPr>
        <p:spPr>
          <a:xfrm>
            <a:off x="533400" y="154700"/>
            <a:ext cx="8077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602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2. 기술 스택 및 사용 라이브러리[1]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g3b4dad8aa3a_0_31"/>
          <p:cNvCxnSpPr/>
          <p:nvPr/>
        </p:nvCxnSpPr>
        <p:spPr>
          <a:xfrm>
            <a:off x="533400" y="747575"/>
            <a:ext cx="8077200" cy="0"/>
          </a:xfrm>
          <a:prstGeom prst="straightConnector1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96" name="Google Shape;96;g3b4dad8aa3a_0_31"/>
          <p:cNvGraphicFramePr/>
          <p:nvPr/>
        </p:nvGraphicFramePr>
        <p:xfrm>
          <a:off x="533400" y="974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{B58E384E-CF4B-4159-911B-06D53F5A0AA0}</a:tableStyleId>
              </a:tblPr>
              <a:tblGrid>
                <a:gridCol w="1495925"/>
                <a:gridCol w="1793125"/>
                <a:gridCol w="1297800"/>
                <a:gridCol w="3487200"/>
              </a:tblGrid>
              <a:tr h="311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</a:rPr>
                        <a:t>분류</a:t>
                      </a:r>
                      <a:endParaRPr b="1" sz="10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</a:rPr>
                        <a:t>라이브러리 (Package)</a:t>
                      </a:r>
                      <a:endParaRPr b="1" sz="10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</a:rPr>
                        <a:t>버전 (Version)</a:t>
                      </a:r>
                      <a:endParaRPr b="1" sz="10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</a:rPr>
                        <a:t>주요 역할 및 활용 사례</a:t>
                      </a:r>
                      <a:endParaRPr b="1" sz="10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CC"/>
                    </a:solidFill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E3A8A"/>
                          </a:solidFill>
                        </a:rPr>
                        <a:t>App Framework</a:t>
                      </a:r>
                      <a:endParaRPr b="1" sz="1000">
                        <a:solidFill>
                          <a:srgbClr val="1E3A8A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E3A8A"/>
                          </a:solidFill>
                        </a:rPr>
                        <a:t>streamlit</a:t>
                      </a:r>
                      <a:endParaRPr b="1" sz="1000">
                        <a:solidFill>
                          <a:srgbClr val="1E3A8A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E3A8A"/>
                          </a:solidFill>
                        </a:rPr>
                        <a:t>1.32.0</a:t>
                      </a:r>
                      <a:endParaRPr b="1" sz="1000">
                        <a:solidFill>
                          <a:srgbClr val="1E3A8A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E3A8A"/>
                          </a:solidFill>
                        </a:rPr>
                        <a:t>웹 인터페이스 구축 및 실시간 영상 스트리밍 엔진</a:t>
                      </a:r>
                      <a:endParaRPr b="1" sz="1000">
                        <a:solidFill>
                          <a:srgbClr val="1E3A8A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E3A8A"/>
                          </a:solidFill>
                        </a:rPr>
                        <a:t>AI &amp; Vision</a:t>
                      </a:r>
                      <a:endParaRPr b="1" sz="1000">
                        <a:solidFill>
                          <a:srgbClr val="1E3A8A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E3A8A"/>
                          </a:solidFill>
                        </a:rPr>
                        <a:t>mediapipe</a:t>
                      </a:r>
                      <a:endParaRPr b="1" sz="1000">
                        <a:solidFill>
                          <a:srgbClr val="1E3A8A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E3A8A"/>
                          </a:solidFill>
                        </a:rPr>
                        <a:t>0.10.14</a:t>
                      </a:r>
                      <a:endParaRPr b="1" sz="1000">
                        <a:solidFill>
                          <a:srgbClr val="1E3A8A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E3A8A"/>
                          </a:solidFill>
                        </a:rPr>
                        <a:t>딥러닝 기반 21개 핸드 랜드마크 실시간 추출</a:t>
                      </a:r>
                      <a:endParaRPr b="1" sz="1000">
                        <a:solidFill>
                          <a:srgbClr val="1E3A8A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rgbClr val="1E3A8A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E3A8A"/>
                          </a:solidFill>
                        </a:rPr>
                        <a:t>opencv-python</a:t>
                      </a:r>
                      <a:endParaRPr b="1" sz="1000">
                        <a:solidFill>
                          <a:srgbClr val="1E3A8A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E3A8A"/>
                          </a:solidFill>
                        </a:rPr>
                        <a:t>4.9.0.80</a:t>
                      </a:r>
                      <a:endParaRPr b="1" sz="1000">
                        <a:solidFill>
                          <a:srgbClr val="1E3A8A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E3A8A"/>
                          </a:solidFill>
                        </a:rPr>
                        <a:t>이미지 캘리브레이션 및 실시간 합성</a:t>
                      </a:r>
                      <a:endParaRPr b="1" sz="1000">
                        <a:solidFill>
                          <a:srgbClr val="1E3A8A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rgbClr val="1E3A8A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E3A8A"/>
                          </a:solidFill>
                        </a:rPr>
                        <a:t>tensorflow</a:t>
                      </a:r>
                      <a:endParaRPr b="1" sz="1000">
                        <a:solidFill>
                          <a:srgbClr val="1E3A8A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E3A8A"/>
                          </a:solidFill>
                        </a:rPr>
                        <a:t>2.16.1</a:t>
                      </a:r>
                      <a:endParaRPr b="1" sz="1000">
                        <a:solidFill>
                          <a:srgbClr val="1E3A8A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E3A8A"/>
                          </a:solidFill>
                        </a:rPr>
                        <a:t>가격 예측 LSTM 모델 추론 및 딥러닝 백엔드 활용</a:t>
                      </a:r>
                      <a:endParaRPr b="1" sz="1000">
                        <a:solidFill>
                          <a:srgbClr val="1E3A8A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E3A8A"/>
                          </a:solidFill>
                        </a:rPr>
                        <a:t>Data Science</a:t>
                      </a:r>
                      <a:endParaRPr b="1" sz="1000">
                        <a:solidFill>
                          <a:srgbClr val="1E3A8A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E3A8A"/>
                          </a:solidFill>
                        </a:rPr>
                        <a:t>numpy</a:t>
                      </a:r>
                      <a:endParaRPr b="1" sz="1000">
                        <a:solidFill>
                          <a:srgbClr val="1E3A8A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E3A8A"/>
                          </a:solidFill>
                        </a:rPr>
                        <a:t>1.26.4</a:t>
                      </a:r>
                      <a:endParaRPr b="1" sz="1000">
                        <a:solidFill>
                          <a:srgbClr val="1E3A8A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E3A8A"/>
                          </a:solidFill>
                        </a:rPr>
                        <a:t>랜드마크 좌표 기반 거리 및 회전 벡터 수치 연산</a:t>
                      </a:r>
                      <a:endParaRPr b="1" sz="1000">
                        <a:solidFill>
                          <a:srgbClr val="1E3A8A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rgbClr val="1E3A8A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E3A8A"/>
                          </a:solidFill>
                        </a:rPr>
                        <a:t>pandas</a:t>
                      </a:r>
                      <a:endParaRPr b="1" sz="1000">
                        <a:solidFill>
                          <a:srgbClr val="1E3A8A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E3A8A"/>
                          </a:solidFill>
                        </a:rPr>
                        <a:t>2.3.3</a:t>
                      </a:r>
                      <a:endParaRPr b="1" sz="1000">
                        <a:solidFill>
                          <a:srgbClr val="1E3A8A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E3A8A"/>
                          </a:solidFill>
                        </a:rPr>
                        <a:t>마우스 스펙 및 부품 가격 데이터셋 로드/가공</a:t>
                      </a:r>
                      <a:endParaRPr b="1" sz="1000">
                        <a:solidFill>
                          <a:srgbClr val="1E3A8A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rgbClr val="1E3A8A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E3A8A"/>
                          </a:solidFill>
                        </a:rPr>
                        <a:t>scikit-learn</a:t>
                      </a:r>
                      <a:endParaRPr b="1" sz="1000">
                        <a:solidFill>
                          <a:srgbClr val="1E3A8A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E3A8A"/>
                          </a:solidFill>
                        </a:rPr>
                        <a:t>1.7.2</a:t>
                      </a:r>
                      <a:endParaRPr b="1" sz="1000">
                        <a:solidFill>
                          <a:srgbClr val="1E3A8A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E3A8A"/>
                          </a:solidFill>
                        </a:rPr>
                        <a:t>데이터 정규화(MinMaxScaler) 및 모델 평가</a:t>
                      </a:r>
                      <a:endParaRPr b="1" sz="1000">
                        <a:solidFill>
                          <a:srgbClr val="1E3A8A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E3A8A"/>
                          </a:solidFill>
                        </a:rPr>
                        <a:t>Visualization</a:t>
                      </a:r>
                      <a:endParaRPr b="1" sz="1000">
                        <a:solidFill>
                          <a:srgbClr val="1E3A8A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E3A8A"/>
                          </a:solidFill>
                        </a:rPr>
                        <a:t>matplotlib</a:t>
                      </a:r>
                      <a:endParaRPr b="1" sz="1000">
                        <a:solidFill>
                          <a:srgbClr val="1E3A8A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E3A8A"/>
                          </a:solidFill>
                        </a:rPr>
                        <a:t>3.10.8</a:t>
                      </a:r>
                      <a:endParaRPr b="1" sz="1000">
                        <a:solidFill>
                          <a:srgbClr val="1E3A8A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E3A8A"/>
                          </a:solidFill>
                        </a:rPr>
                        <a:t>부품 시세 변동 추이 및 예측 데이터 차트 생성</a:t>
                      </a:r>
                      <a:endParaRPr b="1" sz="1000">
                        <a:solidFill>
                          <a:srgbClr val="1E3A8A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rgbClr val="1E3A8A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E3A8A"/>
                          </a:solidFill>
                        </a:rPr>
                        <a:t>seaborn</a:t>
                      </a:r>
                      <a:endParaRPr b="1" sz="1000">
                        <a:solidFill>
                          <a:srgbClr val="1E3A8A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E3A8A"/>
                          </a:solidFill>
                        </a:rPr>
                        <a:t>0.13.2</a:t>
                      </a:r>
                      <a:endParaRPr b="1" sz="1000">
                        <a:solidFill>
                          <a:srgbClr val="1E3A8A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E3A8A"/>
                          </a:solidFill>
                        </a:rPr>
                        <a:t>데이터 분포 및 통계 시각화(요일별/월별 시세)</a:t>
                      </a:r>
                      <a:endParaRPr b="1" sz="1000">
                        <a:solidFill>
                          <a:srgbClr val="1E3A8A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E3A8A"/>
                          </a:solidFill>
                        </a:rPr>
                        <a:t>Utility</a:t>
                      </a:r>
                      <a:endParaRPr b="1" sz="1000">
                        <a:solidFill>
                          <a:srgbClr val="1E3A8A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E3A8A"/>
                          </a:solidFill>
                        </a:rPr>
                        <a:t>requests</a:t>
                      </a:r>
                      <a:endParaRPr b="1" sz="1000">
                        <a:solidFill>
                          <a:srgbClr val="1E3A8A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E3A8A"/>
                          </a:solidFill>
                        </a:rPr>
                        <a:t>2.32.5</a:t>
                      </a:r>
                      <a:endParaRPr b="1" sz="1000">
                        <a:solidFill>
                          <a:srgbClr val="1E3A8A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E3A8A"/>
                          </a:solidFill>
                        </a:rPr>
                        <a:t>외부 API 및 마우스 이미지 데이터 수집</a:t>
                      </a:r>
                      <a:endParaRPr b="1" sz="1000">
                        <a:solidFill>
                          <a:srgbClr val="1E3A8A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rgbClr val="1E3A8A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E3A8A"/>
                          </a:solidFill>
                        </a:rPr>
                        <a:t>Pillow(PIL)</a:t>
                      </a:r>
                      <a:endParaRPr b="1" sz="1000">
                        <a:solidFill>
                          <a:srgbClr val="1E3A8A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E3A8A"/>
                          </a:solidFill>
                        </a:rPr>
                        <a:t>10.4.0</a:t>
                      </a:r>
                      <a:endParaRPr b="1" sz="1000">
                        <a:solidFill>
                          <a:srgbClr val="1E3A8A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E3A8A"/>
                          </a:solidFill>
                        </a:rPr>
                        <a:t>이미지 객체 처리 및 형식 변환 지원</a:t>
                      </a:r>
                      <a:endParaRPr b="1" sz="1000">
                        <a:solidFill>
                          <a:srgbClr val="1E3A8A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4dad8aa3a_0_581"/>
          <p:cNvSpPr/>
          <p:nvPr/>
        </p:nvSpPr>
        <p:spPr>
          <a:xfrm>
            <a:off x="533400" y="154700"/>
            <a:ext cx="8077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602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2. 기술 스택 및 사용 라이브러리[2]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g3b4dad8aa3a_0_581"/>
          <p:cNvCxnSpPr/>
          <p:nvPr/>
        </p:nvCxnSpPr>
        <p:spPr>
          <a:xfrm>
            <a:off x="533400" y="747575"/>
            <a:ext cx="8077200" cy="0"/>
          </a:xfrm>
          <a:prstGeom prst="straightConnector1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g3b4dad8aa3a_0_5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00" y="1018773"/>
            <a:ext cx="8077200" cy="2853103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3b4dad8aa3a_0_581"/>
          <p:cNvSpPr/>
          <p:nvPr/>
        </p:nvSpPr>
        <p:spPr>
          <a:xfrm>
            <a:off x="814388" y="4283275"/>
            <a:ext cx="34386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Dataset 출처 : 다나와(danawa) </a:t>
            </a:r>
            <a:r>
              <a:rPr b="1" lang="en-US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온라인 플랫폼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g3b4dad8aa3a_0_581"/>
          <p:cNvSpPr/>
          <p:nvPr/>
        </p:nvSpPr>
        <p:spPr>
          <a:xfrm>
            <a:off x="4891013" y="4283275"/>
            <a:ext cx="34386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Image_url 출처 : elo_shapes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/>
          <p:nvPr/>
        </p:nvSpPr>
        <p:spPr>
          <a:xfrm>
            <a:off x="533400" y="1366600"/>
            <a:ext cx="39243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985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i="0" lang="en-US" sz="10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실시간 웹캠 영상에서 </a:t>
            </a:r>
            <a:r>
              <a:rPr b="1" i="0" lang="en-US" sz="10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손의 21개 주요 랜드마크를 3D 좌표</a:t>
            </a:r>
            <a:r>
              <a:rPr i="0" lang="en-US" sz="10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로 정확하게 감지</a:t>
            </a:r>
            <a:endParaRPr i="0" sz="1000" u="none" cap="none" strike="noStrike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985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i="0" lang="en-US" sz="10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복잡한 배경 에서도 손의 형태와 움직임을 강건하게 추적</a:t>
            </a:r>
            <a:endParaRPr i="0" sz="1000" u="none" cap="none" strike="noStrike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533400" y="3362076"/>
            <a:ext cx="16953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SzPts val="987"/>
              <a:buFont typeface="Calibri"/>
              <a:buNone/>
            </a:pPr>
            <a:r>
              <a:rPr b="1" i="0" lang="en-US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실시간 최적화</a:t>
            </a:r>
            <a:endParaRPr b="0" i="0" u="none" cap="none" strike="noStrike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533400" y="3762129"/>
            <a:ext cx="35718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985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i="0" lang="en-US" sz="10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경량화된 모델을 사용하여 프레임 드랍을 최소</a:t>
            </a:r>
            <a:r>
              <a:rPr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화 및</a:t>
            </a:r>
            <a:r>
              <a:rPr i="0" lang="en-US" sz="10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0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지수 이동 평균(EMA) 필터</a:t>
            </a:r>
            <a:r>
              <a:rPr i="0" lang="en-US" sz="10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를 적용하여 관절 좌표의 미세한 떨림을 보</a:t>
            </a:r>
            <a:r>
              <a:rPr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정</a:t>
            </a:r>
            <a:endParaRPr i="0" sz="1000" u="none" cap="none" strike="noStrike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533400" y="154700"/>
            <a:ext cx="8077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602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3. 핵심로직 - MediaPipe[1]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4"/>
          <p:cNvCxnSpPr/>
          <p:nvPr/>
        </p:nvCxnSpPr>
        <p:spPr>
          <a:xfrm>
            <a:off x="533400" y="747575"/>
            <a:ext cx="8077200" cy="0"/>
          </a:xfrm>
          <a:prstGeom prst="straightConnector1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" name="Google Shape;117;p4"/>
          <p:cNvSpPr/>
          <p:nvPr/>
        </p:nvSpPr>
        <p:spPr>
          <a:xfrm>
            <a:off x="533400" y="978100"/>
            <a:ext cx="16953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MediaPipe Hands 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533400" y="2591750"/>
            <a:ext cx="39243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7985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추출된 좌표를 기반으로 </a:t>
            </a:r>
            <a:r>
              <a:rPr b="1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손의 길이, 너비, 각도를 수학적으로 계산</a:t>
            </a:r>
            <a:endParaRPr b="1" sz="1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7985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이는 가상 마우스의 크기와 방향을 결정하는 핵심 파라미터로 변환</a:t>
            </a:r>
            <a:endParaRPr sz="1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985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t/>
            </a:r>
            <a:endParaRPr sz="1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533400" y="2130275"/>
            <a:ext cx="16953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기하학적 데이터 파생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533400" y="4339025"/>
            <a:ext cx="77154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lang="en-US" sz="1100">
                <a:solidFill>
                  <a:srgbClr val="003366"/>
                </a:solidFill>
                <a:highlight>
                  <a:srgbClr val="FFFFFF"/>
                </a:highlight>
              </a:rPr>
              <a:t>※</a:t>
            </a:r>
            <a:r>
              <a:rPr lang="en-US" sz="13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지수 이동 평균 필터 </a:t>
            </a:r>
            <a:endParaRPr b="1" sz="1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: 과거의 모든 데이터를 반영하지만 최신 데이터에 더 높은 가중치를 부여하여 데이터의 흐름을 매끄럽게 만드는 디지털 필터</a:t>
            </a:r>
            <a:endParaRPr i="0" sz="1000" u="none" cap="none" strike="noStrike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8300" y="1473538"/>
            <a:ext cx="3852300" cy="2291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4dad8aa3a_0_177"/>
          <p:cNvSpPr/>
          <p:nvPr/>
        </p:nvSpPr>
        <p:spPr>
          <a:xfrm>
            <a:off x="533400" y="154700"/>
            <a:ext cx="8077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602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3. 핵심로직 - MediaPipe[2]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g3b4dad8aa3a_0_177"/>
          <p:cNvCxnSpPr/>
          <p:nvPr/>
        </p:nvCxnSpPr>
        <p:spPr>
          <a:xfrm>
            <a:off x="533400" y="747575"/>
            <a:ext cx="8077200" cy="0"/>
          </a:xfrm>
          <a:prstGeom prst="straightConnector1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" name="Google Shape;129;g3b4dad8aa3a_0_177"/>
          <p:cNvSpPr/>
          <p:nvPr/>
        </p:nvSpPr>
        <p:spPr>
          <a:xfrm>
            <a:off x="533400" y="946125"/>
            <a:ext cx="3514800" cy="3835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t/>
            </a:r>
            <a:endParaRPr sz="10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b4dad8aa3a_0_177"/>
          <p:cNvSpPr/>
          <p:nvPr/>
        </p:nvSpPr>
        <p:spPr>
          <a:xfrm>
            <a:off x="747900" y="1165650"/>
            <a:ext cx="30858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t/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t/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t/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Palm Detector</a:t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lang="en-US" sz="1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손바닥 후보 박스 실시간 검출</a:t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b4dad8aa3a_0_177"/>
          <p:cNvSpPr/>
          <p:nvPr/>
        </p:nvSpPr>
        <p:spPr>
          <a:xfrm>
            <a:off x="747900" y="3095875"/>
            <a:ext cx="30858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t/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t/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t/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Hand LandMark Model</a:t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lang="en-US" sz="1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ROI에서 21개 관절 3D 좌표 회귀</a:t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&lt;svg xmlns=&quot;http://www.w3.org/2000/svg&quot; height=&quot;48px&quot; viewBox=&quot;0 -960 960 960&quot; width=&quot;48px&quot; fill=&quot;#0000F5&quot;&gt;&lt;path d=&quot;M507-40q-93 0-171.5-47.5T209-215L60-463l20-20q16-16 38-17.5t40 11.5l122 90v-411q0-12 8.5-21t21.5-9q12 0 21 9t9 21v528L161-414l98 164q38 69 104 109.5T507-100q113 0 193-78t80-190v-402q0-12 8.5-21t21.5-9q12 0 21 9t9 21v402q0 137-97.5 232.5T507-40Zm-60-450v-400q0-12 9-21t21-9q13 0 21.5 9t8.5 21v400h-60Zm167 0v-360q0-12 8.5-21t21.5-9q12 0 21 9t9 21v360h-60ZM471-295Z&quot;/&gt;&lt;/svg&gt;" id="132" name="Google Shape;132;g3b4dad8aa3a_0_1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5050" y="338455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48px&quot; viewBox=&quot;0 -960 960 960&quot; width=&quot;48px&quot; fill=&quot;#0000F5&quot;&gt;&lt;path d=&quot;M836-120 573-383q-14 11-31.5 21.5T508-344q-5-14-11-28.5T483-399q54-21 91.5-69.5T612-584q0-81-57-138.5T417-780q-82 0-139.5 57.5T220-584q0 17 3.5 35.5T232-517q-13 2-29 6.5T174-500q-7-18-10.5-40t-3.5-44q0-107 75-181.5T417-840q106 0 180.5 75T672-584q0 43-15 85t-41 73l264 262-44 44ZM240-63l-5-48q-21-6-40-17t-35-26l-42 20-35-54 38-30q-6-20-6-41.5t6-41.5l-38-30 35-55 42 20q17-14 35.5-25t39.5-17l5-49h60l6 49q21 6 39.5 17t35.5 25l42-20 35 55-38 30q6 20 6 41.5t-6 41.5l38 30-35 54-42-20q-16 15-35 26t-40 17l-6 48h-60Zm30-95q42 0 72-30t30-72q0-42-30-72t-72-30q-42 0-72 30t-30 72q0 42 30 72t72 30Z&quot;/&gt;&lt;/svg&gt;" id="133" name="Google Shape;133;g3b4dad8aa3a_0_1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05050" y="1298575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48px&quot; viewBox=&quot;0 -960 960 960&quot; width=&quot;48px&quot; fill=&quot;#0000F5&quot;&gt;&lt;path d=&quot;M450-800v526L202-522l-42 42 320 320 320-320-42-42-248 248v-526h-60Z&quot;/&gt;&lt;/svg&gt;" id="134" name="Google Shape;134;g3b4dad8aa3a_0_1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15363" y="2821200"/>
            <a:ext cx="350875" cy="35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3b4dad8aa3a_0_177"/>
          <p:cNvSpPr/>
          <p:nvPr/>
        </p:nvSpPr>
        <p:spPr>
          <a:xfrm>
            <a:off x="4581600" y="954175"/>
            <a:ext cx="4029000" cy="759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3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        	2단계 파이프라인</a:t>
            </a:r>
            <a:endParaRPr b="1" sz="6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lang="en-US" sz="1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Palm Detector -&gt; Hand LandMark Model 순차적 처리</a:t>
            </a:r>
            <a:endParaRPr b="1" sz="11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g3b4dad8aa3a_0_177"/>
          <p:cNvCxnSpPr/>
          <p:nvPr/>
        </p:nvCxnSpPr>
        <p:spPr>
          <a:xfrm>
            <a:off x="4582200" y="954175"/>
            <a:ext cx="4200" cy="759900"/>
          </a:xfrm>
          <a:prstGeom prst="straightConnector1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" name="Google Shape;137;g3b4dad8aa3a_0_177"/>
          <p:cNvSpPr/>
          <p:nvPr/>
        </p:nvSpPr>
        <p:spPr>
          <a:xfrm>
            <a:off x="4581600" y="1958075"/>
            <a:ext cx="4029000" cy="759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3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        	</a:t>
            </a:r>
            <a:r>
              <a:rPr b="1" lang="en-US" sz="13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실시간 처리</a:t>
            </a:r>
            <a:endParaRPr b="1" sz="6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lang="en-US" sz="1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단일 RGB 카메라로 경량 고속 추적</a:t>
            </a:r>
            <a:endParaRPr b="1" sz="11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" name="Google Shape;138;g3b4dad8aa3a_0_177"/>
          <p:cNvCxnSpPr/>
          <p:nvPr/>
        </p:nvCxnSpPr>
        <p:spPr>
          <a:xfrm>
            <a:off x="4582200" y="1958075"/>
            <a:ext cx="4200" cy="759900"/>
          </a:xfrm>
          <a:prstGeom prst="straightConnector1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" name="Google Shape;139;g3b4dad8aa3a_0_177"/>
          <p:cNvSpPr/>
          <p:nvPr/>
        </p:nvSpPr>
        <p:spPr>
          <a:xfrm>
            <a:off x="4581600" y="2985863"/>
            <a:ext cx="4029000" cy="759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3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        	</a:t>
            </a:r>
            <a:r>
              <a:rPr b="1" lang="en-US" sz="13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강건성</a:t>
            </a:r>
            <a:endParaRPr b="1" sz="6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lang="en-US" sz="1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다양한 손 포즈, 회전, 크기 변화에 대응</a:t>
            </a:r>
            <a:endParaRPr b="1" sz="11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g3b4dad8aa3a_0_177"/>
          <p:cNvCxnSpPr/>
          <p:nvPr/>
        </p:nvCxnSpPr>
        <p:spPr>
          <a:xfrm>
            <a:off x="4582200" y="2985863"/>
            <a:ext cx="4200" cy="759900"/>
          </a:xfrm>
          <a:prstGeom prst="straightConnector1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" name="Google Shape;141;g3b4dad8aa3a_0_177"/>
          <p:cNvSpPr/>
          <p:nvPr/>
        </p:nvSpPr>
        <p:spPr>
          <a:xfrm>
            <a:off x="4581600" y="4013675"/>
            <a:ext cx="4029000" cy="759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3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        	</a:t>
            </a:r>
            <a:r>
              <a:rPr b="1" lang="en-US" sz="13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출력 정보</a:t>
            </a:r>
            <a:endParaRPr b="1" sz="6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lang="en-US" sz="1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21개 랟드마크, handedness, ROI, 신뢰도, 추적 스무딩</a:t>
            </a:r>
            <a:endParaRPr b="1" sz="11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g3b4dad8aa3a_0_177"/>
          <p:cNvCxnSpPr/>
          <p:nvPr/>
        </p:nvCxnSpPr>
        <p:spPr>
          <a:xfrm>
            <a:off x="4582200" y="4013675"/>
            <a:ext cx="4200" cy="759900"/>
          </a:xfrm>
          <a:prstGeom prst="straightConnector1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svg xmlns=&quot;http://www.w3.org/2000/svg&quot; height=&quot;48px&quot; viewBox=&quot;0 -960 960 960&quot; width=&quot;48px&quot; fill=&quot;#0000F5&quot;&gt;&lt;path d=&quot;M480-80 120-286v-399l360-195 360 195v399L480-80ZM366-578q23-23 52.5-37.5T480-630q32 0 61.5 14.5T594-578l153-90-267-142-267 142 153 90Zm84 412v-167q-52-14-86-54t-34-93q0-11 1.5-22.5T337-525l-157-93v297l270 155Zm30-224q38 0 64-26t26-64q0-38-26-64t-64-26q-38 0-64 26t-26 64q0 38 26 64t64 26Zm30 224 270-155v-297l-157 93q4 11 5.5 22.5T630-480q0 53-34 93t-86 54v167Z&quot;/&gt;&lt;/svg&gt;" id="143" name="Google Shape;143;g3b4dad8aa3a_0_1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29825" y="1067211"/>
            <a:ext cx="333331" cy="35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000F5&quot;&gt;&lt;path d=&quot;M200-320h400L462-500l-92 120-62-80-108 140Zm-40 160q-33 0-56.5-23.5T80-240v-480q0-33 23.5-56.5T160-800h480q33 0 56.5 23.5T720-720v180l160-160v440L720-420v180q0 33-23.5 56.5T640-160H160Zm0-80h480v-480H160v480Zm0 0v-480 480Z&quot;/&gt;&lt;/svg&gt;" id="144" name="Google Shape;144;g3b4dad8aa3a_0_17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29825" y="2059788"/>
            <a:ext cx="333331" cy="35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000F5&quot;&gt;&lt;path d=&quot;M480-80q-139-35-229.5-159.5T160-516v-244l320-120 320 120v244q0 152-90.5 276.5T480-80Zm0-84q104-33 172-132t68-220v-189l-240-90-240 90v189q0 121 68 220t172 132Zm0-316Zm-80 160h160q17 0 28.5-11.5T600-360v-120q0-17-11.5-28.5T560-520v-40q0-33-23.5-56.5T480-640q-33 0-56.5 23.5T400-560v40q-17 0-28.5 11.5T360-480v120q0 17 11.5 28.5T400-320Zm40-200v-40q0-17 11.5-28.5T480-600q17 0 28.5 11.5T520-560v40h-80Z&quot;/&gt;&lt;/svg&gt;" id="145" name="Google Shape;145;g3b4dad8aa3a_0_17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29827" y="3076088"/>
            <a:ext cx="333331" cy="35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000F5&quot;&gt;&lt;path d=&quot;M640-640v-120H320v120h-80v-200h480v200h-80Zm-480 80h640-640Zm560 100q17 0 28.5-11.5T760-500q0-17-11.5-28.5T720-540q-17 0-28.5 11.5T680-500q0 17 11.5 28.5T720-460Zm-80 260v-160H320v160h320Zm80 80H240v-160H80v-240q0-51 35-85.5t85-34.5h560q51 0 85.5 34.5T880-520v240H720v160Zm80-240v-160q0-17-11.5-28.5T760-560H200q-17 0-28.5 11.5T160-520v160h80v-80h480v80h80Z&quot;/&gt;&lt;/svg&gt;" id="146" name="Google Shape;146;g3b4dad8aa3a_0_17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29825" y="4100575"/>
            <a:ext cx="333331" cy="35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4dad8aa3a_0_297"/>
          <p:cNvSpPr/>
          <p:nvPr/>
        </p:nvSpPr>
        <p:spPr>
          <a:xfrm>
            <a:off x="533400" y="154700"/>
            <a:ext cx="8077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602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3. 핵심로직 - MediaPipe[3]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g3b4dad8aa3a_0_297"/>
          <p:cNvCxnSpPr/>
          <p:nvPr/>
        </p:nvCxnSpPr>
        <p:spPr>
          <a:xfrm>
            <a:off x="533400" y="747575"/>
            <a:ext cx="8077200" cy="0"/>
          </a:xfrm>
          <a:prstGeom prst="straightConnector1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" name="Google Shape;154;g3b4dad8aa3a_0_297"/>
          <p:cNvSpPr/>
          <p:nvPr/>
        </p:nvSpPr>
        <p:spPr>
          <a:xfrm>
            <a:off x="533400" y="946125"/>
            <a:ext cx="3514800" cy="3835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t/>
            </a:r>
            <a:endParaRPr sz="10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b4dad8aa3a_0_297"/>
          <p:cNvSpPr/>
          <p:nvPr/>
        </p:nvSpPr>
        <p:spPr>
          <a:xfrm>
            <a:off x="733425" y="2194675"/>
            <a:ext cx="819300" cy="843600"/>
          </a:xfrm>
          <a:prstGeom prst="rect">
            <a:avLst/>
          </a:prstGeom>
          <a:solidFill>
            <a:schemeClr val="lt1"/>
          </a:solidFill>
          <a:ln cap="flat" cmpd="sng" w="88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손목</a:t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lang="en-US" sz="1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1개</a:t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b4dad8aa3a_0_297"/>
          <p:cNvSpPr/>
          <p:nvPr/>
        </p:nvSpPr>
        <p:spPr>
          <a:xfrm>
            <a:off x="1881150" y="2194675"/>
            <a:ext cx="819300" cy="843600"/>
          </a:xfrm>
          <a:prstGeom prst="rect">
            <a:avLst/>
          </a:prstGeom>
          <a:solidFill>
            <a:schemeClr val="lt1"/>
          </a:solidFill>
          <a:ln cap="flat" cmpd="sng" w="88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MCP</a:t>
            </a:r>
            <a:r>
              <a:rPr b="1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(너클)</a:t>
            </a:r>
            <a:endParaRPr b="1" sz="1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lang="en-US" sz="1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5개</a:t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b4dad8aa3a_0_297"/>
          <p:cNvSpPr/>
          <p:nvPr/>
        </p:nvSpPr>
        <p:spPr>
          <a:xfrm>
            <a:off x="1612050" y="1257219"/>
            <a:ext cx="13575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랜드마크 구성</a:t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b4dad8aa3a_0_297"/>
          <p:cNvSpPr/>
          <p:nvPr/>
        </p:nvSpPr>
        <p:spPr>
          <a:xfrm>
            <a:off x="3028875" y="2194675"/>
            <a:ext cx="819300" cy="843600"/>
          </a:xfrm>
          <a:prstGeom prst="rect">
            <a:avLst/>
          </a:prstGeom>
          <a:solidFill>
            <a:schemeClr val="lt1"/>
          </a:solidFill>
          <a:ln cap="flat" cmpd="sng" w="88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PIP</a:t>
            </a:r>
            <a:r>
              <a:rPr b="1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(중간관절)</a:t>
            </a:r>
            <a:endParaRPr b="1" sz="1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lang="en-US" sz="1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5개</a:t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b4dad8aa3a_0_297"/>
          <p:cNvSpPr/>
          <p:nvPr/>
        </p:nvSpPr>
        <p:spPr>
          <a:xfrm>
            <a:off x="733425" y="3464775"/>
            <a:ext cx="819300" cy="843600"/>
          </a:xfrm>
          <a:prstGeom prst="rect">
            <a:avLst/>
          </a:prstGeom>
          <a:solidFill>
            <a:schemeClr val="lt1"/>
          </a:solidFill>
          <a:ln cap="flat" cmpd="sng" w="88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DIP</a:t>
            </a:r>
            <a:r>
              <a:rPr b="1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(끝 관절)</a:t>
            </a:r>
            <a:endParaRPr b="1" sz="1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lang="en-US" sz="1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5개</a:t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b4dad8aa3a_0_297"/>
          <p:cNvSpPr/>
          <p:nvPr/>
        </p:nvSpPr>
        <p:spPr>
          <a:xfrm>
            <a:off x="1881150" y="3464775"/>
            <a:ext cx="819300" cy="843600"/>
          </a:xfrm>
          <a:prstGeom prst="rect">
            <a:avLst/>
          </a:prstGeom>
          <a:solidFill>
            <a:schemeClr val="lt1"/>
          </a:solidFill>
          <a:ln cap="flat" cmpd="sng" w="88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TIP</a:t>
            </a:r>
            <a:r>
              <a:rPr b="1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(손끝)</a:t>
            </a:r>
            <a:endParaRPr b="1" sz="1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lang="en-US" sz="1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5개</a:t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g3b4dad8aa3a_0_2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6600" y="2085987"/>
            <a:ext cx="4487700" cy="155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4dad8aa3a_0_354"/>
          <p:cNvSpPr/>
          <p:nvPr/>
        </p:nvSpPr>
        <p:spPr>
          <a:xfrm>
            <a:off x="533400" y="154700"/>
            <a:ext cx="8077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602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3. 핵심로직 - </a:t>
            </a:r>
            <a:r>
              <a:rPr b="1" lang="en-US" sz="1602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코드 상세설명[1]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g3b4dad8aa3a_0_354"/>
          <p:cNvCxnSpPr/>
          <p:nvPr/>
        </p:nvCxnSpPr>
        <p:spPr>
          <a:xfrm>
            <a:off x="533400" y="747575"/>
            <a:ext cx="8077200" cy="0"/>
          </a:xfrm>
          <a:prstGeom prst="straightConnector1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9" name="Google Shape;169;g3b4dad8aa3a_0_354"/>
          <p:cNvPicPr preferRelativeResize="0"/>
          <p:nvPr/>
        </p:nvPicPr>
        <p:blipFill rotWithShape="1">
          <a:blip r:embed="rId3">
            <a:alphaModFix/>
          </a:blip>
          <a:srcRect b="31707" l="0" r="0" t="0"/>
          <a:stretch/>
        </p:blipFill>
        <p:spPr>
          <a:xfrm>
            <a:off x="981350" y="1369025"/>
            <a:ext cx="3514801" cy="1683157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b4dad8aa3a_0_354"/>
          <p:cNvSpPr/>
          <p:nvPr/>
        </p:nvSpPr>
        <p:spPr>
          <a:xfrm>
            <a:off x="981350" y="997150"/>
            <a:ext cx="35148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메인 루프 내부 MediaPipe 호출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b4dad8aa3a_0_354"/>
          <p:cNvSpPr/>
          <p:nvPr/>
        </p:nvSpPr>
        <p:spPr>
          <a:xfrm>
            <a:off x="533400" y="999550"/>
            <a:ext cx="312600" cy="312600"/>
          </a:xfrm>
          <a:prstGeom prst="roundRect">
            <a:avLst>
              <a:gd fmla="val 16667" name="adj"/>
            </a:avLst>
          </a:prstGeom>
          <a:solidFill>
            <a:srgbClr val="0066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1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72" name="Google Shape;172;g3b4dad8aa3a_0_354"/>
          <p:cNvSpPr/>
          <p:nvPr/>
        </p:nvSpPr>
        <p:spPr>
          <a:xfrm>
            <a:off x="4813300" y="1368950"/>
            <a:ext cx="3797100" cy="16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[1] CAM 영상 프레임이 입력되면 RGB로 색공간 변환</a:t>
            </a:r>
            <a:endParaRPr b="1" sz="12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[2] hand.process 함수를 통해 BlazePalm, LandMark모델 </a:t>
            </a:r>
            <a:endParaRPr b="1" sz="12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      순차적 실행</a:t>
            </a:r>
            <a:endParaRPr b="1" sz="12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-    추출된 21개 좌표는 추후 계산을 위한 정규화 값으로 반환</a:t>
            </a:r>
            <a:endParaRPr b="1" sz="12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b4dad8aa3a_0_354"/>
          <p:cNvSpPr/>
          <p:nvPr/>
        </p:nvSpPr>
        <p:spPr>
          <a:xfrm>
            <a:off x="981350" y="3235525"/>
            <a:ext cx="35148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기하학적 캘리브레이션 및 픽셀 - mm 매핑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b4dad8aa3a_0_354"/>
          <p:cNvSpPr/>
          <p:nvPr/>
        </p:nvSpPr>
        <p:spPr>
          <a:xfrm>
            <a:off x="533400" y="3237925"/>
            <a:ext cx="312600" cy="312600"/>
          </a:xfrm>
          <a:prstGeom prst="roundRect">
            <a:avLst>
              <a:gd fmla="val 16667" name="adj"/>
            </a:avLst>
          </a:prstGeom>
          <a:solidFill>
            <a:srgbClr val="0066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2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175" name="Google Shape;175;g3b4dad8aa3a_0_3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1350" y="3671300"/>
            <a:ext cx="3514800" cy="967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b4dad8aa3a_0_3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1350" y="4658900"/>
            <a:ext cx="3009900" cy="26722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b4dad8aa3a_0_354"/>
          <p:cNvSpPr/>
          <p:nvPr/>
        </p:nvSpPr>
        <p:spPr>
          <a:xfrm>
            <a:off x="4813300" y="3671300"/>
            <a:ext cx="37971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[1] 픽셀 수 측정 및 화면의 렌더링된 10cm 기준선을 이용해 </a:t>
            </a:r>
            <a:endParaRPr b="1" sz="12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      monitor_10cm_px 비례식을 사용.</a:t>
            </a:r>
            <a:endParaRPr b="1" sz="12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-    카메라와의 거리와 모니터 해상도가 변해도 물리적 거리</a:t>
            </a:r>
            <a:endParaRPr b="1" sz="12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     (mm)을 일정하게 유지 가능</a:t>
            </a:r>
            <a:endParaRPr b="1" sz="12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t/>
            </a:r>
            <a:endParaRPr b="1" sz="12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4dad8aa3a_0_328"/>
          <p:cNvSpPr/>
          <p:nvPr/>
        </p:nvSpPr>
        <p:spPr>
          <a:xfrm>
            <a:off x="533400" y="154700"/>
            <a:ext cx="8077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602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3. 핵심로직 - </a:t>
            </a:r>
            <a:r>
              <a:rPr b="1" lang="en-US" sz="1602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코드 상세설명[2]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" name="Google Shape;184;g3b4dad8aa3a_0_328"/>
          <p:cNvCxnSpPr/>
          <p:nvPr/>
        </p:nvCxnSpPr>
        <p:spPr>
          <a:xfrm>
            <a:off x="533400" y="747575"/>
            <a:ext cx="8077200" cy="0"/>
          </a:xfrm>
          <a:prstGeom prst="straightConnector1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" name="Google Shape;185;g3b4dad8aa3a_0_328"/>
          <p:cNvSpPr/>
          <p:nvPr/>
        </p:nvSpPr>
        <p:spPr>
          <a:xfrm>
            <a:off x="981350" y="997150"/>
            <a:ext cx="3009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앵커 포인트 지정 및 회전 매핑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b4dad8aa3a_0_328"/>
          <p:cNvSpPr/>
          <p:nvPr/>
        </p:nvSpPr>
        <p:spPr>
          <a:xfrm>
            <a:off x="533400" y="999550"/>
            <a:ext cx="312600" cy="312600"/>
          </a:xfrm>
          <a:prstGeom prst="roundRect">
            <a:avLst>
              <a:gd fmla="val 16667" name="adj"/>
            </a:avLst>
          </a:prstGeom>
          <a:solidFill>
            <a:srgbClr val="0066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3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87" name="Google Shape;187;g3b4dad8aa3a_0_328"/>
          <p:cNvSpPr/>
          <p:nvPr/>
        </p:nvSpPr>
        <p:spPr>
          <a:xfrm>
            <a:off x="4813300" y="1368950"/>
            <a:ext cx="3797100" cy="16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[1] 마우스가 손을 따라 자연스럽게 회전하기 위해</a:t>
            </a:r>
            <a:endParaRPr b="1" sz="12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      Math.atan2 함수를 이용한 손의 방향 벡터 계산 필요</a:t>
            </a:r>
            <a:endParaRPr b="1" sz="12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[2] 손을 쥘 경우 좌표 오차 방지를 위해 MCP(너클) 부위를 </a:t>
            </a:r>
            <a:endParaRPr b="1" sz="12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      중점으로 회전축 설정하여 안정성 확보</a:t>
            </a:r>
            <a:endParaRPr b="1" sz="12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b4dad8aa3a_0_328"/>
          <p:cNvSpPr/>
          <p:nvPr/>
        </p:nvSpPr>
        <p:spPr>
          <a:xfrm>
            <a:off x="981350" y="3235525"/>
            <a:ext cx="3009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실시간 이미지 합성 및 최적화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b4dad8aa3a_0_328"/>
          <p:cNvSpPr/>
          <p:nvPr/>
        </p:nvSpPr>
        <p:spPr>
          <a:xfrm>
            <a:off x="533400" y="3237925"/>
            <a:ext cx="312600" cy="312600"/>
          </a:xfrm>
          <a:prstGeom prst="roundRect">
            <a:avLst>
              <a:gd fmla="val 16667" name="adj"/>
            </a:avLst>
          </a:prstGeom>
          <a:solidFill>
            <a:srgbClr val="0066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4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90" name="Google Shape;190;g3b4dad8aa3a_0_328"/>
          <p:cNvSpPr/>
          <p:nvPr/>
        </p:nvSpPr>
        <p:spPr>
          <a:xfrm>
            <a:off x="4813300" y="3318875"/>
            <a:ext cx="3797100" cy="16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[1] </a:t>
            </a:r>
            <a:r>
              <a:rPr b="1" lang="en-US" sz="1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마우스 제원(mm) -&gt; cm로 변환 </a:t>
            </a:r>
            <a:endParaRPr b="1" sz="12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[2] val_monitor: 378픽셀 기준으로 맞춘 모니터 배율을 곱해 </a:t>
            </a:r>
            <a:endParaRPr b="1" sz="12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      내 모니터에서 cm가 차지하는 픽셀 수가 적용됨</a:t>
            </a:r>
            <a:endParaRPr b="1" sz="12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[3] </a:t>
            </a:r>
            <a:r>
              <a:rPr b="1" lang="en-US" sz="1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원본 너비에 종횡비 r을 곱해 실제 길이에 맞춰 너비도</a:t>
            </a:r>
            <a:endParaRPr b="1" sz="12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      실측 비율로 자동 조절</a:t>
            </a:r>
            <a:endParaRPr b="1" sz="12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-     최종으로 마우스 이미지를 투명하게 만든 이후 카메라</a:t>
            </a:r>
            <a:endParaRPr b="1" sz="12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      프레임에 합성하여 실제 사이즈의 손 + 마우스 출력</a:t>
            </a:r>
            <a:endParaRPr b="1" sz="12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t/>
            </a:r>
            <a:endParaRPr b="1" sz="12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g3b4dad8aa3a_0_3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1350" y="1369025"/>
            <a:ext cx="3009900" cy="966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g3b4dad8aa3a_0_3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1350" y="2352400"/>
            <a:ext cx="3514801" cy="701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g3b4dad8aa3a_0_3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1346" y="3609975"/>
            <a:ext cx="3514800" cy="571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g3b4dad8aa3a_0_3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1350" y="4209950"/>
            <a:ext cx="3557950" cy="31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g3b4dad8aa3a_0_3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75" y="873725"/>
            <a:ext cx="5430461" cy="417466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g3b4dad8aa3a_0_375"/>
          <p:cNvSpPr/>
          <p:nvPr/>
        </p:nvSpPr>
        <p:spPr>
          <a:xfrm>
            <a:off x="533400" y="154700"/>
            <a:ext cx="8077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602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lang="en-US" sz="1602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1" lang="en-US" sz="1602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화면구성</a:t>
            </a:r>
            <a:r>
              <a:rPr b="1" lang="en-US" sz="1602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[1]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" name="Google Shape;202;g3b4dad8aa3a_0_375"/>
          <p:cNvCxnSpPr/>
          <p:nvPr/>
        </p:nvCxnSpPr>
        <p:spPr>
          <a:xfrm>
            <a:off x="533400" y="747575"/>
            <a:ext cx="8077200" cy="0"/>
          </a:xfrm>
          <a:prstGeom prst="straightConnector1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g3b4dad8aa3a_0_375"/>
          <p:cNvSpPr/>
          <p:nvPr/>
        </p:nvSpPr>
        <p:spPr>
          <a:xfrm flipH="1">
            <a:off x="533475" y="1914525"/>
            <a:ext cx="1362000" cy="342900"/>
          </a:xfrm>
          <a:prstGeom prst="rect">
            <a:avLst/>
          </a:prstGeom>
          <a:noFill/>
          <a:ln cap="flat" cmpd="sng" w="1905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b4dad8aa3a_0_375"/>
          <p:cNvSpPr/>
          <p:nvPr/>
        </p:nvSpPr>
        <p:spPr>
          <a:xfrm flipH="1">
            <a:off x="533475" y="2562225"/>
            <a:ext cx="1362000" cy="876300"/>
          </a:xfrm>
          <a:prstGeom prst="rect">
            <a:avLst/>
          </a:prstGeom>
          <a:noFill/>
          <a:ln cap="flat" cmpd="sng" w="1905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b4dad8aa3a_0_375"/>
          <p:cNvSpPr/>
          <p:nvPr/>
        </p:nvSpPr>
        <p:spPr>
          <a:xfrm flipH="1">
            <a:off x="2171775" y="2257425"/>
            <a:ext cx="3343200" cy="914400"/>
          </a:xfrm>
          <a:prstGeom prst="rect">
            <a:avLst/>
          </a:prstGeom>
          <a:noFill/>
          <a:ln cap="flat" cmpd="sng" w="1905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b4dad8aa3a_0_375"/>
          <p:cNvSpPr/>
          <p:nvPr/>
        </p:nvSpPr>
        <p:spPr>
          <a:xfrm flipH="1">
            <a:off x="2171775" y="3676650"/>
            <a:ext cx="3343200" cy="1171500"/>
          </a:xfrm>
          <a:prstGeom prst="rect">
            <a:avLst/>
          </a:prstGeom>
          <a:noFill/>
          <a:ln cap="flat" cmpd="sng" w="1905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b4dad8aa3a_0_375"/>
          <p:cNvSpPr/>
          <p:nvPr/>
        </p:nvSpPr>
        <p:spPr>
          <a:xfrm flipH="1">
            <a:off x="415645" y="1628775"/>
            <a:ext cx="914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3366"/>
                </a:solidFill>
              </a:rPr>
              <a:t>[1] 기능 선택</a:t>
            </a:r>
            <a:endParaRPr b="1" sz="1000">
              <a:solidFill>
                <a:srgbClr val="003366"/>
              </a:solidFill>
            </a:endParaRPr>
          </a:p>
        </p:txBody>
      </p:sp>
      <p:sp>
        <p:nvSpPr>
          <p:cNvPr id="208" name="Google Shape;208;g3b4dad8aa3a_0_375"/>
          <p:cNvSpPr/>
          <p:nvPr/>
        </p:nvSpPr>
        <p:spPr>
          <a:xfrm flipH="1">
            <a:off x="6248550" y="1788375"/>
            <a:ext cx="2038200" cy="342900"/>
          </a:xfrm>
          <a:prstGeom prst="rect">
            <a:avLst/>
          </a:prstGeom>
          <a:noFill/>
          <a:ln cap="flat" cmpd="sng" w="1905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3366"/>
                </a:solidFill>
              </a:rPr>
              <a:t> 유저의 실제 손 길이 및 너비 입력</a:t>
            </a:r>
            <a:endParaRPr b="1" sz="1000">
              <a:solidFill>
                <a:srgbClr val="003366"/>
              </a:solidFill>
            </a:endParaRPr>
          </a:p>
        </p:txBody>
      </p:sp>
      <p:cxnSp>
        <p:nvCxnSpPr>
          <p:cNvPr id="209" name="Google Shape;209;g3b4dad8aa3a_0_375"/>
          <p:cNvCxnSpPr>
            <a:endCxn id="208" idx="3"/>
          </p:cNvCxnSpPr>
          <p:nvPr/>
        </p:nvCxnSpPr>
        <p:spPr>
          <a:xfrm flipH="1" rot="10800000">
            <a:off x="5515050" y="1959825"/>
            <a:ext cx="733500" cy="65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0" name="Google Shape;210;g3b4dad8aa3a_0_375"/>
          <p:cNvSpPr/>
          <p:nvPr/>
        </p:nvSpPr>
        <p:spPr>
          <a:xfrm flipH="1">
            <a:off x="415645" y="2276475"/>
            <a:ext cx="1190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3366"/>
                </a:solidFill>
              </a:rPr>
              <a:t>[2] 출력 채널 설정</a:t>
            </a:r>
            <a:endParaRPr b="1" sz="1000">
              <a:solidFill>
                <a:srgbClr val="003366"/>
              </a:solidFill>
            </a:endParaRPr>
          </a:p>
        </p:txBody>
      </p:sp>
      <p:cxnSp>
        <p:nvCxnSpPr>
          <p:cNvPr id="211" name="Google Shape;211;g3b4dad8aa3a_0_375"/>
          <p:cNvCxnSpPr/>
          <p:nvPr/>
        </p:nvCxnSpPr>
        <p:spPr>
          <a:xfrm flipH="1" rot="10800000">
            <a:off x="5515050" y="3676650"/>
            <a:ext cx="733500" cy="65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2" name="Google Shape;212;g3b4dad8aa3a_0_375"/>
          <p:cNvSpPr/>
          <p:nvPr/>
        </p:nvSpPr>
        <p:spPr>
          <a:xfrm flipH="1">
            <a:off x="6248625" y="3545875"/>
            <a:ext cx="1800000" cy="342900"/>
          </a:xfrm>
          <a:prstGeom prst="rect">
            <a:avLst/>
          </a:prstGeom>
          <a:noFill/>
          <a:ln cap="flat" cmpd="sng" w="1905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3366"/>
                </a:solidFill>
              </a:rPr>
              <a:t>제조사 및 모델명으로 필터링 </a:t>
            </a:r>
            <a:endParaRPr b="1" sz="1000">
              <a:solidFill>
                <a:srgbClr val="003366"/>
              </a:solidFill>
            </a:endParaRPr>
          </a:p>
        </p:txBody>
      </p:sp>
      <p:sp>
        <p:nvSpPr>
          <p:cNvPr id="213" name="Google Shape;213;g3b4dad8aa3a_0_375"/>
          <p:cNvSpPr/>
          <p:nvPr/>
        </p:nvSpPr>
        <p:spPr>
          <a:xfrm flipH="1">
            <a:off x="6130795" y="1476375"/>
            <a:ext cx="1190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3366"/>
                </a:solidFill>
              </a:rPr>
              <a:t>[3] </a:t>
            </a:r>
            <a:r>
              <a:rPr b="1" lang="en-US" sz="1000">
                <a:solidFill>
                  <a:srgbClr val="003366"/>
                </a:solidFill>
              </a:rPr>
              <a:t>손 사이즈 입력</a:t>
            </a:r>
            <a:endParaRPr b="1" sz="1000">
              <a:solidFill>
                <a:srgbClr val="003366"/>
              </a:solidFill>
            </a:endParaRPr>
          </a:p>
        </p:txBody>
      </p:sp>
      <p:sp>
        <p:nvSpPr>
          <p:cNvPr id="214" name="Google Shape;214;g3b4dad8aa3a_0_375"/>
          <p:cNvSpPr/>
          <p:nvPr/>
        </p:nvSpPr>
        <p:spPr>
          <a:xfrm flipH="1">
            <a:off x="6140320" y="3229027"/>
            <a:ext cx="1666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3366"/>
                </a:solidFill>
              </a:rPr>
              <a:t>[4] </a:t>
            </a:r>
            <a:r>
              <a:rPr b="1" lang="en-US" sz="1000">
                <a:solidFill>
                  <a:srgbClr val="003366"/>
                </a:solidFill>
              </a:rPr>
              <a:t>원하는 마우스 기종 선택</a:t>
            </a:r>
            <a:endParaRPr b="1" sz="1000">
              <a:solidFill>
                <a:srgbClr val="003366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g3b4dad8aa3a_0_4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75" y="873725"/>
            <a:ext cx="5430451" cy="4174674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g3b4dad8aa3a_0_438"/>
          <p:cNvSpPr/>
          <p:nvPr/>
        </p:nvSpPr>
        <p:spPr>
          <a:xfrm>
            <a:off x="533400" y="154700"/>
            <a:ext cx="8077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602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4. 화면구성[2]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" name="Google Shape;222;g3b4dad8aa3a_0_438"/>
          <p:cNvCxnSpPr/>
          <p:nvPr/>
        </p:nvCxnSpPr>
        <p:spPr>
          <a:xfrm>
            <a:off x="533400" y="747575"/>
            <a:ext cx="8077200" cy="0"/>
          </a:xfrm>
          <a:prstGeom prst="straightConnector1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" name="Google Shape;223;g3b4dad8aa3a_0_438"/>
          <p:cNvSpPr/>
          <p:nvPr/>
        </p:nvSpPr>
        <p:spPr>
          <a:xfrm flipH="1">
            <a:off x="2152725" y="3486150"/>
            <a:ext cx="3343200" cy="895200"/>
          </a:xfrm>
          <a:prstGeom prst="rect">
            <a:avLst/>
          </a:prstGeom>
          <a:noFill/>
          <a:ln cap="flat" cmpd="sng" w="1905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b4dad8aa3a_0_438"/>
          <p:cNvSpPr/>
          <p:nvPr/>
        </p:nvSpPr>
        <p:spPr>
          <a:xfrm flipH="1">
            <a:off x="6073570" y="1685977"/>
            <a:ext cx="1666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3366"/>
                </a:solidFill>
              </a:rPr>
              <a:t>[5] 실측 시작</a:t>
            </a:r>
            <a:endParaRPr b="1" sz="1000">
              <a:solidFill>
                <a:srgbClr val="003366"/>
              </a:solidFill>
            </a:endParaRPr>
          </a:p>
        </p:txBody>
      </p:sp>
      <p:sp>
        <p:nvSpPr>
          <p:cNvPr id="225" name="Google Shape;225;g3b4dad8aa3a_0_438"/>
          <p:cNvSpPr/>
          <p:nvPr/>
        </p:nvSpPr>
        <p:spPr>
          <a:xfrm flipH="1">
            <a:off x="6181950" y="2002825"/>
            <a:ext cx="2704800" cy="349800"/>
          </a:xfrm>
          <a:prstGeom prst="rect">
            <a:avLst/>
          </a:prstGeom>
          <a:noFill/>
          <a:ln cap="flat" cmpd="sng" w="1905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3366"/>
                </a:solidFill>
              </a:rPr>
              <a:t>버튼 클릭 시 실측 시작 및 캠 1개, 패널 1개 생성</a:t>
            </a:r>
            <a:endParaRPr b="1" sz="1000">
              <a:solidFill>
                <a:srgbClr val="003366"/>
              </a:solidFill>
            </a:endParaRPr>
          </a:p>
        </p:txBody>
      </p:sp>
      <p:cxnSp>
        <p:nvCxnSpPr>
          <p:cNvPr id="226" name="Google Shape;226;g3b4dad8aa3a_0_438"/>
          <p:cNvCxnSpPr>
            <a:stCxn id="223" idx="1"/>
            <a:endCxn id="225" idx="3"/>
          </p:cNvCxnSpPr>
          <p:nvPr/>
        </p:nvCxnSpPr>
        <p:spPr>
          <a:xfrm flipH="1" rot="10800000">
            <a:off x="5495925" y="2177850"/>
            <a:ext cx="686100" cy="175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7" name="Google Shape;227;g3b4dad8aa3a_0_438"/>
          <p:cNvSpPr/>
          <p:nvPr/>
        </p:nvSpPr>
        <p:spPr>
          <a:xfrm flipH="1">
            <a:off x="533475" y="2562225"/>
            <a:ext cx="1362000" cy="876300"/>
          </a:xfrm>
          <a:prstGeom prst="rect">
            <a:avLst/>
          </a:prstGeom>
          <a:noFill/>
          <a:ln cap="flat" cmpd="sng" w="1905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8" name="Google Shape;228;g3b4dad8aa3a_0_4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9075" y="3061851"/>
            <a:ext cx="2190525" cy="1495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9" name="Google Shape;229;g3b4dad8aa3a_0_438"/>
          <p:cNvCxnSpPr>
            <a:stCxn id="225" idx="2"/>
            <a:endCxn id="228" idx="0"/>
          </p:cNvCxnSpPr>
          <p:nvPr/>
        </p:nvCxnSpPr>
        <p:spPr>
          <a:xfrm>
            <a:off x="7534350" y="2352625"/>
            <a:ext cx="0" cy="70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0" name="Google Shape;230;g3b4dad8aa3a_0_438"/>
          <p:cNvSpPr/>
          <p:nvPr/>
        </p:nvSpPr>
        <p:spPr>
          <a:xfrm flipH="1">
            <a:off x="6439070" y="4610150"/>
            <a:ext cx="1904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3366"/>
                </a:solidFill>
              </a:rPr>
              <a:t>[6] 카메라 연결 성공 시 활성화</a:t>
            </a:r>
            <a:endParaRPr b="1" sz="1000">
              <a:solidFill>
                <a:srgbClr val="003366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b4dad8aa3a_0_408"/>
          <p:cNvSpPr/>
          <p:nvPr/>
        </p:nvSpPr>
        <p:spPr>
          <a:xfrm>
            <a:off x="533400" y="154700"/>
            <a:ext cx="8077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602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4. 화면구성[3]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" name="Google Shape;237;g3b4dad8aa3a_0_408"/>
          <p:cNvCxnSpPr/>
          <p:nvPr/>
        </p:nvCxnSpPr>
        <p:spPr>
          <a:xfrm>
            <a:off x="533400" y="747575"/>
            <a:ext cx="8077200" cy="0"/>
          </a:xfrm>
          <a:prstGeom prst="straightConnector1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38" name="Google Shape;238;g3b4dad8aa3a_0_4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0975" y="1104900"/>
            <a:ext cx="2814200" cy="372427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g3b4dad8aa3a_0_408"/>
          <p:cNvSpPr/>
          <p:nvPr/>
        </p:nvSpPr>
        <p:spPr>
          <a:xfrm flipH="1">
            <a:off x="5612695" y="794050"/>
            <a:ext cx="2814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3366"/>
                </a:solidFill>
              </a:rPr>
              <a:t>[8] </a:t>
            </a:r>
            <a:r>
              <a:rPr b="1" lang="en-US" sz="1000">
                <a:solidFill>
                  <a:srgbClr val="003366"/>
                </a:solidFill>
              </a:rPr>
              <a:t>모니터 10cm 검증바를 실측 10cm로 조절</a:t>
            </a:r>
            <a:endParaRPr b="1" sz="1000">
              <a:solidFill>
                <a:srgbClr val="003366"/>
              </a:solidFill>
            </a:endParaRPr>
          </a:p>
        </p:txBody>
      </p:sp>
      <p:sp>
        <p:nvSpPr>
          <p:cNvPr id="240" name="Google Shape;240;g3b4dad8aa3a_0_408"/>
          <p:cNvSpPr/>
          <p:nvPr/>
        </p:nvSpPr>
        <p:spPr>
          <a:xfrm flipH="1">
            <a:off x="5721025" y="1323975"/>
            <a:ext cx="2814300" cy="187200"/>
          </a:xfrm>
          <a:prstGeom prst="rect">
            <a:avLst/>
          </a:prstGeom>
          <a:noFill/>
          <a:ln cap="flat" cmpd="sng" w="1905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1" name="Google Shape;241;g3b4dad8aa3a_0_4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400" y="1104900"/>
            <a:ext cx="4844579" cy="372427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g3b4dad8aa3a_0_408"/>
          <p:cNvSpPr/>
          <p:nvPr/>
        </p:nvSpPr>
        <p:spPr>
          <a:xfrm flipH="1">
            <a:off x="425245" y="794052"/>
            <a:ext cx="1666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3366"/>
                </a:solidFill>
              </a:rPr>
              <a:t>[7] </a:t>
            </a:r>
            <a:r>
              <a:rPr b="1" lang="en-US" sz="1000">
                <a:solidFill>
                  <a:srgbClr val="003366"/>
                </a:solidFill>
              </a:rPr>
              <a:t>실측 </a:t>
            </a:r>
            <a:r>
              <a:rPr b="1" lang="en-US" sz="1000">
                <a:solidFill>
                  <a:srgbClr val="003366"/>
                </a:solidFill>
              </a:rPr>
              <a:t>진행</a:t>
            </a:r>
            <a:endParaRPr b="1" sz="1000">
              <a:solidFill>
                <a:srgbClr val="003366"/>
              </a:solidFill>
            </a:endParaRPr>
          </a:p>
        </p:txBody>
      </p:sp>
      <p:sp>
        <p:nvSpPr>
          <p:cNvPr id="243" name="Google Shape;243;g3b4dad8aa3a_0_408"/>
          <p:cNvSpPr/>
          <p:nvPr/>
        </p:nvSpPr>
        <p:spPr>
          <a:xfrm flipH="1">
            <a:off x="682150" y="4375350"/>
            <a:ext cx="1372800" cy="356700"/>
          </a:xfrm>
          <a:prstGeom prst="rect">
            <a:avLst/>
          </a:prstGeom>
          <a:noFill/>
          <a:ln cap="flat" cmpd="sng" w="1905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4" name="Google Shape;244;g3b4dad8aa3a_0_408"/>
          <p:cNvCxnSpPr>
            <a:stCxn id="240" idx="3"/>
            <a:endCxn id="243" idx="1"/>
          </p:cNvCxnSpPr>
          <p:nvPr/>
        </p:nvCxnSpPr>
        <p:spPr>
          <a:xfrm flipH="1">
            <a:off x="2055025" y="1417575"/>
            <a:ext cx="3666000" cy="313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g3b4dad8aa3a_0_459"/>
          <p:cNvPicPr preferRelativeResize="0"/>
          <p:nvPr/>
        </p:nvPicPr>
        <p:blipFill rotWithShape="1">
          <a:blip r:embed="rId3">
            <a:alphaModFix/>
          </a:blip>
          <a:srcRect b="0" l="0" r="1777" t="19458"/>
          <a:stretch/>
        </p:blipFill>
        <p:spPr>
          <a:xfrm>
            <a:off x="533475" y="1685975"/>
            <a:ext cx="5333926" cy="3362399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g3b4dad8aa3a_0_459"/>
          <p:cNvSpPr/>
          <p:nvPr/>
        </p:nvSpPr>
        <p:spPr>
          <a:xfrm>
            <a:off x="533400" y="154700"/>
            <a:ext cx="8077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602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4. 화면구성[4]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2" name="Google Shape;252;g3b4dad8aa3a_0_459"/>
          <p:cNvCxnSpPr/>
          <p:nvPr/>
        </p:nvCxnSpPr>
        <p:spPr>
          <a:xfrm>
            <a:off x="533400" y="747575"/>
            <a:ext cx="8077200" cy="0"/>
          </a:xfrm>
          <a:prstGeom prst="straightConnector1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" name="Google Shape;253;g3b4dad8aa3a_0_459"/>
          <p:cNvSpPr/>
          <p:nvPr/>
        </p:nvSpPr>
        <p:spPr>
          <a:xfrm flipH="1">
            <a:off x="2238375" y="1730125"/>
            <a:ext cx="3252600" cy="3089400"/>
          </a:xfrm>
          <a:prstGeom prst="rect">
            <a:avLst/>
          </a:prstGeom>
          <a:noFill/>
          <a:ln cap="flat" cmpd="sng" w="1905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b4dad8aa3a_0_459"/>
          <p:cNvSpPr/>
          <p:nvPr/>
        </p:nvSpPr>
        <p:spPr>
          <a:xfrm flipH="1">
            <a:off x="6073570" y="1685977"/>
            <a:ext cx="1666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3366"/>
                </a:solidFill>
              </a:rPr>
              <a:t>[10] </a:t>
            </a:r>
            <a:r>
              <a:rPr b="1" lang="en-US" sz="1000">
                <a:solidFill>
                  <a:srgbClr val="003366"/>
                </a:solidFill>
              </a:rPr>
              <a:t>측정 결과 안내</a:t>
            </a:r>
            <a:endParaRPr b="1" sz="1000">
              <a:solidFill>
                <a:srgbClr val="003366"/>
              </a:solidFill>
            </a:endParaRPr>
          </a:p>
        </p:txBody>
      </p:sp>
      <p:sp>
        <p:nvSpPr>
          <p:cNvPr id="255" name="Google Shape;255;g3b4dad8aa3a_0_459"/>
          <p:cNvSpPr/>
          <p:nvPr/>
        </p:nvSpPr>
        <p:spPr>
          <a:xfrm flipH="1">
            <a:off x="6181750" y="2002825"/>
            <a:ext cx="1839300" cy="410700"/>
          </a:xfrm>
          <a:prstGeom prst="rect">
            <a:avLst/>
          </a:prstGeom>
          <a:noFill/>
          <a:ln cap="flat" cmpd="sng" w="1905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3366"/>
                </a:solidFill>
              </a:rPr>
              <a:t>화면 내 실제 손 사이즈 및 </a:t>
            </a:r>
            <a:endParaRPr b="1" sz="1000">
              <a:solidFill>
                <a:srgbClr val="0033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3366"/>
                </a:solidFill>
              </a:rPr>
              <a:t>실제 마우스 크기 대조 가능</a:t>
            </a:r>
            <a:endParaRPr b="1" sz="1000">
              <a:solidFill>
                <a:srgbClr val="003366"/>
              </a:solidFill>
            </a:endParaRPr>
          </a:p>
        </p:txBody>
      </p:sp>
      <p:sp>
        <p:nvSpPr>
          <p:cNvPr id="256" name="Google Shape;256;g3b4dad8aa3a_0_459"/>
          <p:cNvSpPr/>
          <p:nvPr/>
        </p:nvSpPr>
        <p:spPr>
          <a:xfrm flipH="1">
            <a:off x="6169470" y="3812200"/>
            <a:ext cx="1904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3366"/>
                </a:solidFill>
              </a:rPr>
              <a:t>[11] 카메라 연결 성공 시 활성화</a:t>
            </a:r>
            <a:endParaRPr b="1" sz="1000">
              <a:solidFill>
                <a:srgbClr val="003366"/>
              </a:solidFill>
            </a:endParaRPr>
          </a:p>
        </p:txBody>
      </p:sp>
      <p:sp>
        <p:nvSpPr>
          <p:cNvPr id="257" name="Google Shape;257;g3b4dad8aa3a_0_459"/>
          <p:cNvSpPr/>
          <p:nvPr/>
        </p:nvSpPr>
        <p:spPr>
          <a:xfrm flipH="1">
            <a:off x="4210000" y="3873550"/>
            <a:ext cx="1098600" cy="410700"/>
          </a:xfrm>
          <a:prstGeom prst="rect">
            <a:avLst/>
          </a:prstGeom>
          <a:noFill/>
          <a:ln cap="flat" cmpd="sng" w="1905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8" name="Google Shape;258;g3b4dad8aa3a_0_459"/>
          <p:cNvCxnSpPr>
            <a:stCxn id="253" idx="1"/>
            <a:endCxn id="255" idx="3"/>
          </p:cNvCxnSpPr>
          <p:nvPr/>
        </p:nvCxnSpPr>
        <p:spPr>
          <a:xfrm flipH="1" rot="10800000">
            <a:off x="5490975" y="2208025"/>
            <a:ext cx="690900" cy="106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9" name="Google Shape;259;g3b4dad8aa3a_0_459"/>
          <p:cNvCxnSpPr>
            <a:stCxn id="257" idx="1"/>
            <a:endCxn id="260" idx="3"/>
          </p:cNvCxnSpPr>
          <p:nvPr/>
        </p:nvCxnSpPr>
        <p:spPr>
          <a:xfrm>
            <a:off x="5308600" y="4078900"/>
            <a:ext cx="969000" cy="26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0" name="Google Shape;260;g3b4dad8aa3a_0_459"/>
          <p:cNvSpPr/>
          <p:nvPr/>
        </p:nvSpPr>
        <p:spPr>
          <a:xfrm flipH="1">
            <a:off x="6277625" y="4140250"/>
            <a:ext cx="1839300" cy="410700"/>
          </a:xfrm>
          <a:prstGeom prst="rect">
            <a:avLst/>
          </a:prstGeom>
          <a:noFill/>
          <a:ln cap="flat" cmpd="sng" w="1905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3366"/>
                </a:solidFill>
              </a:rPr>
              <a:t>화면 내 파랑색 박스 실측 후 교차 검증 진행</a:t>
            </a:r>
            <a:endParaRPr b="1" sz="1000">
              <a:solidFill>
                <a:srgbClr val="003366"/>
              </a:solidFill>
            </a:endParaRPr>
          </a:p>
        </p:txBody>
      </p:sp>
      <p:pic>
        <p:nvPicPr>
          <p:cNvPr id="261" name="Google Shape;261;g3b4dad8aa3a_0_4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38375" y="1007974"/>
            <a:ext cx="3252599" cy="63495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g3b4dad8aa3a_0_459"/>
          <p:cNvSpPr/>
          <p:nvPr/>
        </p:nvSpPr>
        <p:spPr>
          <a:xfrm flipH="1">
            <a:off x="2238525" y="1011425"/>
            <a:ext cx="3252600" cy="595200"/>
          </a:xfrm>
          <a:prstGeom prst="rect">
            <a:avLst/>
          </a:prstGeom>
          <a:noFill/>
          <a:ln cap="flat" cmpd="sng" w="1905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3" name="Google Shape;263;g3b4dad8aa3a_0_459"/>
          <p:cNvCxnSpPr>
            <a:stCxn id="262" idx="1"/>
            <a:endCxn id="264" idx="3"/>
          </p:cNvCxnSpPr>
          <p:nvPr/>
        </p:nvCxnSpPr>
        <p:spPr>
          <a:xfrm>
            <a:off x="5491125" y="1309025"/>
            <a:ext cx="6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4" name="Google Shape;264;g3b4dad8aa3a_0_459"/>
          <p:cNvSpPr/>
          <p:nvPr/>
        </p:nvSpPr>
        <p:spPr>
          <a:xfrm flipH="1">
            <a:off x="6143775" y="1103675"/>
            <a:ext cx="1839300" cy="410700"/>
          </a:xfrm>
          <a:prstGeom prst="rect">
            <a:avLst/>
          </a:prstGeom>
          <a:noFill/>
          <a:ln cap="flat" cmpd="sng" w="1905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3366"/>
                </a:solidFill>
              </a:rPr>
              <a:t>AI 측정 사이즈 및 오차 출력</a:t>
            </a:r>
            <a:endParaRPr b="1" sz="1000">
              <a:solidFill>
                <a:srgbClr val="003366"/>
              </a:solidFill>
            </a:endParaRPr>
          </a:p>
        </p:txBody>
      </p:sp>
      <p:sp>
        <p:nvSpPr>
          <p:cNvPr id="265" name="Google Shape;265;g3b4dad8aa3a_0_459"/>
          <p:cNvSpPr/>
          <p:nvPr/>
        </p:nvSpPr>
        <p:spPr>
          <a:xfrm flipH="1">
            <a:off x="6002920" y="793438"/>
            <a:ext cx="1904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3366"/>
                </a:solidFill>
              </a:rPr>
              <a:t>[9] </a:t>
            </a:r>
            <a:r>
              <a:rPr b="1" lang="en-US" sz="1000">
                <a:solidFill>
                  <a:srgbClr val="003366"/>
                </a:solidFill>
              </a:rPr>
              <a:t>측정 완료</a:t>
            </a:r>
            <a:endParaRPr b="1" sz="1000">
              <a:solidFill>
                <a:srgbClr val="003366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g3b4dad8aa3a_0_4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75" y="873725"/>
            <a:ext cx="5430451" cy="4174637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g3b4dad8aa3a_0_485"/>
          <p:cNvSpPr/>
          <p:nvPr/>
        </p:nvSpPr>
        <p:spPr>
          <a:xfrm>
            <a:off x="533400" y="154700"/>
            <a:ext cx="8077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602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4. 화면구성[5]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3" name="Google Shape;273;g3b4dad8aa3a_0_485"/>
          <p:cNvCxnSpPr/>
          <p:nvPr/>
        </p:nvCxnSpPr>
        <p:spPr>
          <a:xfrm>
            <a:off x="533400" y="747575"/>
            <a:ext cx="8077200" cy="0"/>
          </a:xfrm>
          <a:prstGeom prst="straightConnector1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" name="Google Shape;274;g3b4dad8aa3a_0_485"/>
          <p:cNvSpPr/>
          <p:nvPr/>
        </p:nvSpPr>
        <p:spPr>
          <a:xfrm flipH="1">
            <a:off x="2238375" y="1647825"/>
            <a:ext cx="1904700" cy="3400500"/>
          </a:xfrm>
          <a:prstGeom prst="rect">
            <a:avLst/>
          </a:prstGeom>
          <a:noFill/>
          <a:ln cap="flat" cmpd="sng" w="1905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b4dad8aa3a_0_485"/>
          <p:cNvSpPr/>
          <p:nvPr/>
        </p:nvSpPr>
        <p:spPr>
          <a:xfrm flipH="1">
            <a:off x="6083402" y="1685975"/>
            <a:ext cx="1839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3366"/>
                </a:solidFill>
              </a:rPr>
              <a:t>[12] </a:t>
            </a:r>
            <a:r>
              <a:rPr b="1" lang="en-US" sz="1000">
                <a:solidFill>
                  <a:srgbClr val="003366"/>
                </a:solidFill>
              </a:rPr>
              <a:t>마우스 + 손 이미지 출력</a:t>
            </a:r>
            <a:endParaRPr b="1" sz="1000">
              <a:solidFill>
                <a:srgbClr val="003366"/>
              </a:solidFill>
            </a:endParaRPr>
          </a:p>
        </p:txBody>
      </p:sp>
      <p:sp>
        <p:nvSpPr>
          <p:cNvPr id="276" name="Google Shape;276;g3b4dad8aa3a_0_485"/>
          <p:cNvSpPr/>
          <p:nvPr/>
        </p:nvSpPr>
        <p:spPr>
          <a:xfrm flipH="1">
            <a:off x="6181750" y="2002825"/>
            <a:ext cx="1839300" cy="410700"/>
          </a:xfrm>
          <a:prstGeom prst="rect">
            <a:avLst/>
          </a:prstGeom>
          <a:noFill/>
          <a:ln cap="flat" cmpd="sng" w="1905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3366"/>
                </a:solidFill>
              </a:rPr>
              <a:t>손 틀어짐 정도에 따라 </a:t>
            </a:r>
            <a:endParaRPr b="1" sz="1000">
              <a:solidFill>
                <a:srgbClr val="0033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3366"/>
                </a:solidFill>
              </a:rPr>
              <a:t>마우스 또한 기울기 변경</a:t>
            </a:r>
            <a:endParaRPr b="1" sz="1000">
              <a:solidFill>
                <a:srgbClr val="003366"/>
              </a:solidFill>
            </a:endParaRPr>
          </a:p>
        </p:txBody>
      </p:sp>
      <p:cxnSp>
        <p:nvCxnSpPr>
          <p:cNvPr id="277" name="Google Shape;277;g3b4dad8aa3a_0_485"/>
          <p:cNvCxnSpPr>
            <a:stCxn id="274" idx="1"/>
            <a:endCxn id="276" idx="3"/>
          </p:cNvCxnSpPr>
          <p:nvPr/>
        </p:nvCxnSpPr>
        <p:spPr>
          <a:xfrm flipH="1" rot="10800000">
            <a:off x="4143075" y="2208075"/>
            <a:ext cx="2038800" cy="114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b4dad8aa3a_0_519"/>
          <p:cNvSpPr/>
          <p:nvPr/>
        </p:nvSpPr>
        <p:spPr>
          <a:xfrm>
            <a:off x="533400" y="154700"/>
            <a:ext cx="8077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602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1" lang="en-US" sz="1602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1" lang="en-US" sz="1602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결과 및 결론[1]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4" name="Google Shape;284;g3b4dad8aa3a_0_519"/>
          <p:cNvCxnSpPr/>
          <p:nvPr/>
        </p:nvCxnSpPr>
        <p:spPr>
          <a:xfrm>
            <a:off x="533400" y="747575"/>
            <a:ext cx="8077200" cy="0"/>
          </a:xfrm>
          <a:prstGeom prst="straightConnector1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g3b4dad8aa3a_0_519"/>
          <p:cNvSpPr/>
          <p:nvPr/>
        </p:nvSpPr>
        <p:spPr>
          <a:xfrm>
            <a:off x="571500" y="1819939"/>
            <a:ext cx="3714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SzPts val="885"/>
              <a:buFont typeface="Calibri"/>
              <a:buNone/>
            </a:pPr>
            <a:r>
              <a:rPr b="1" lang="en-US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1:1 실측 정확도 검증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b4dad8aa3a_0_519"/>
          <p:cNvSpPr/>
          <p:nvPr/>
        </p:nvSpPr>
        <p:spPr>
          <a:xfrm>
            <a:off x="571500" y="2252744"/>
            <a:ext cx="3714900" cy="15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798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검증 방법</a:t>
            </a:r>
            <a:endParaRPr b="1" sz="1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798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 화면 내 '5cm 검증 바'를 생성하여 실제 자(Ruler)와 대조하는 물리적</a:t>
            </a:r>
            <a:endParaRPr sz="1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798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 검증 수행</a:t>
            </a:r>
            <a:endParaRPr sz="1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798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798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측정 오차</a:t>
            </a:r>
            <a:endParaRPr b="1" sz="1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798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 사용자 실측값 대비 AI 측정값의 오차 범위를 </a:t>
            </a:r>
            <a:r>
              <a:rPr b="1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±5mm 이내</a:t>
            </a:r>
            <a:r>
              <a:rPr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로 억제하여</a:t>
            </a:r>
            <a:endParaRPr sz="1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798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 높은 신뢰도 확보</a:t>
            </a:r>
            <a:endParaRPr sz="1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985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t/>
            </a:r>
            <a:endParaRPr sz="1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b4dad8aa3a_0_519"/>
          <p:cNvSpPr/>
          <p:nvPr/>
        </p:nvSpPr>
        <p:spPr>
          <a:xfrm>
            <a:off x="981350" y="1125050"/>
            <a:ext cx="35148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시스템 구현 결과 및 성능 평가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b4dad8aa3a_0_519"/>
          <p:cNvSpPr/>
          <p:nvPr/>
        </p:nvSpPr>
        <p:spPr>
          <a:xfrm>
            <a:off x="533400" y="1103906"/>
            <a:ext cx="347400" cy="359700"/>
          </a:xfrm>
          <a:prstGeom prst="roundRect">
            <a:avLst>
              <a:gd fmla="val 16667" name="adj"/>
            </a:avLst>
          </a:prstGeom>
          <a:solidFill>
            <a:srgbClr val="0066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1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89" name="Google Shape;289;g3b4dad8aa3a_0_519"/>
          <p:cNvSpPr/>
          <p:nvPr/>
        </p:nvSpPr>
        <p:spPr>
          <a:xfrm>
            <a:off x="4895700" y="1819939"/>
            <a:ext cx="3714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SzPts val="885"/>
              <a:buFont typeface="Calibri"/>
              <a:buNone/>
            </a:pPr>
            <a:r>
              <a:rPr b="1" lang="en-US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실시간 처리 성능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g3b4dad8aa3a_0_519"/>
          <p:cNvSpPr/>
          <p:nvPr/>
        </p:nvSpPr>
        <p:spPr>
          <a:xfrm>
            <a:off x="4895700" y="2252744"/>
            <a:ext cx="3714900" cy="15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798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FPS (Frames Per Second)</a:t>
            </a:r>
            <a:endParaRPr b="1" sz="1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798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일반적인 웹캠 환경에서 </a:t>
            </a:r>
            <a:r>
              <a:rPr b="1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30 FPS 이상</a:t>
            </a:r>
            <a:r>
              <a:rPr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을 유지하여 끊김 없는 AR 피팅 경험 제공</a:t>
            </a:r>
            <a:endParaRPr sz="1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798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798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최적화</a:t>
            </a:r>
            <a:endParaRPr b="1" sz="1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798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 MediaPipe의 경량 모델과 OpenCV의 고속 연산 로직을 결합하여 저사양 환경에서도 안정적인 구동 확인</a:t>
            </a:r>
            <a:endParaRPr sz="1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798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985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t/>
            </a:r>
            <a:endParaRPr sz="1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b4dad8aa3a_0_592"/>
          <p:cNvSpPr/>
          <p:nvPr/>
        </p:nvSpPr>
        <p:spPr>
          <a:xfrm>
            <a:off x="533400" y="154700"/>
            <a:ext cx="8077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602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6. 결과 및 결론[1]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7" name="Google Shape;297;g3b4dad8aa3a_0_592"/>
          <p:cNvCxnSpPr/>
          <p:nvPr/>
        </p:nvCxnSpPr>
        <p:spPr>
          <a:xfrm>
            <a:off x="533400" y="747575"/>
            <a:ext cx="8077200" cy="0"/>
          </a:xfrm>
          <a:prstGeom prst="straightConnector1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8" name="Google Shape;298;g3b4dad8aa3a_0_592"/>
          <p:cNvSpPr/>
          <p:nvPr/>
        </p:nvSpPr>
        <p:spPr>
          <a:xfrm>
            <a:off x="571500" y="1819939"/>
            <a:ext cx="3714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SzPts val="885"/>
              <a:buFont typeface="Calibri"/>
              <a:buNone/>
            </a:pPr>
            <a:r>
              <a:rPr b="1" lang="en-US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원근 왜곡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3b4dad8aa3a_0_592"/>
          <p:cNvSpPr/>
          <p:nvPr/>
        </p:nvSpPr>
        <p:spPr>
          <a:xfrm>
            <a:off x="571500" y="2252753"/>
            <a:ext cx="3714900" cy="22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798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현상</a:t>
            </a:r>
            <a:endParaRPr b="1" sz="1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798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결과 리포트의 5cm 검증 바는 실제 자와 일치하여도 합성된 마우스가 실제보다 작아보이는 현상 발생</a:t>
            </a:r>
            <a:endParaRPr sz="1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798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798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원인 분석</a:t>
            </a:r>
            <a:endParaRPr b="1" sz="1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798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3D 공간을 2D 평면으로 압축하다보니 렌즈와 피사체 사이의 거리에 따라 객체의 크기가 가변적으로 변함</a:t>
            </a:r>
            <a:endParaRPr sz="1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798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985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t/>
            </a:r>
            <a:endParaRPr sz="1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3b4dad8aa3a_0_592"/>
          <p:cNvSpPr/>
          <p:nvPr/>
        </p:nvSpPr>
        <p:spPr>
          <a:xfrm>
            <a:off x="981350" y="1125050"/>
            <a:ext cx="35148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오차 분석 및 한계점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b4dad8aa3a_0_592"/>
          <p:cNvSpPr/>
          <p:nvPr/>
        </p:nvSpPr>
        <p:spPr>
          <a:xfrm>
            <a:off x="533400" y="1103906"/>
            <a:ext cx="347400" cy="359700"/>
          </a:xfrm>
          <a:prstGeom prst="roundRect">
            <a:avLst>
              <a:gd fmla="val 16667" name="adj"/>
            </a:avLst>
          </a:prstGeom>
          <a:solidFill>
            <a:srgbClr val="0066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2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02" name="Google Shape;302;g3b4dad8aa3a_0_592"/>
          <p:cNvSpPr/>
          <p:nvPr/>
        </p:nvSpPr>
        <p:spPr>
          <a:xfrm>
            <a:off x="4895700" y="1819939"/>
            <a:ext cx="3714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SzPts val="885"/>
              <a:buFont typeface="Calibri"/>
              <a:buNone/>
            </a:pPr>
            <a:r>
              <a:rPr b="1" lang="en-US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투영 면적의 차이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3b4dad8aa3a_0_592"/>
          <p:cNvSpPr/>
          <p:nvPr/>
        </p:nvSpPr>
        <p:spPr>
          <a:xfrm>
            <a:off x="4895700" y="2252753"/>
            <a:ext cx="3714900" cy="24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798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원인</a:t>
            </a:r>
            <a:endParaRPr b="1" sz="1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798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DB 스펙은 마우스의 ‘최장 직선 거리’이지만 화면의 이미지는 수직에서 바라본 Top view로 ‘평면 면적’임</a:t>
            </a:r>
            <a:endParaRPr sz="1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798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798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현상</a:t>
            </a:r>
            <a:endParaRPr b="1" sz="1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798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마우스의 곡률이나 손의 기울기의 의해 발생하는 기하학적 손실로 인해 시각적인 길이의 오차 발생</a:t>
            </a:r>
            <a:endParaRPr sz="1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798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798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985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t/>
            </a:r>
            <a:endParaRPr sz="1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b4dad8aa3a_0_560"/>
          <p:cNvSpPr/>
          <p:nvPr/>
        </p:nvSpPr>
        <p:spPr>
          <a:xfrm>
            <a:off x="533400" y="154700"/>
            <a:ext cx="8077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 sz="1602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6. 결과 및 결론[2]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0" name="Google Shape;310;g3b4dad8aa3a_0_560"/>
          <p:cNvCxnSpPr/>
          <p:nvPr/>
        </p:nvCxnSpPr>
        <p:spPr>
          <a:xfrm>
            <a:off x="533400" y="747575"/>
            <a:ext cx="8077200" cy="0"/>
          </a:xfrm>
          <a:prstGeom prst="straightConnector1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1" name="Google Shape;311;g3b4dad8aa3a_0_560"/>
          <p:cNvSpPr/>
          <p:nvPr/>
        </p:nvSpPr>
        <p:spPr>
          <a:xfrm>
            <a:off x="571500" y="3730430"/>
            <a:ext cx="37149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798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798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마우스 외 스마트폰, 태블릿, 손목시계 등 제원 데이터 기반의 모든 IT </a:t>
            </a:r>
            <a:endParaRPr b="1" sz="1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798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기기 피팅으로 확장 </a:t>
            </a:r>
            <a:endParaRPr b="1" sz="1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985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t/>
            </a:r>
            <a:endParaRPr b="1" sz="1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b4dad8aa3a_0_560"/>
          <p:cNvSpPr/>
          <p:nvPr/>
        </p:nvSpPr>
        <p:spPr>
          <a:xfrm>
            <a:off x="981350" y="1125050"/>
            <a:ext cx="35148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결론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g3b4dad8aa3a_0_560"/>
          <p:cNvSpPr/>
          <p:nvPr/>
        </p:nvSpPr>
        <p:spPr>
          <a:xfrm>
            <a:off x="533400" y="1103906"/>
            <a:ext cx="347400" cy="359700"/>
          </a:xfrm>
          <a:prstGeom prst="roundRect">
            <a:avLst>
              <a:gd fmla="val 16667" name="adj"/>
            </a:avLst>
          </a:prstGeom>
          <a:solidFill>
            <a:srgbClr val="0066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2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14" name="Google Shape;314;g3b4dad8aa3a_0_560"/>
          <p:cNvSpPr/>
          <p:nvPr/>
        </p:nvSpPr>
        <p:spPr>
          <a:xfrm>
            <a:off x="571500" y="1578800"/>
            <a:ext cx="80391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SzPts val="885"/>
              <a:buFont typeface="Calibri"/>
              <a:buNone/>
            </a:pPr>
            <a:r>
              <a:rPr b="1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결론적으로 이번 연구는 비전 AI 기술을 활용해 온라인 하드웨어 쇼핑의 고질적인 한계인 '물리적 체감' 문제를 해결하는 데 의의를 두었습니다. 인공지능이 물리적 세계와 디지털 세계를 연결하는 매개체로서 어떻게 활용될 수 있는지 깊이 있게 고찰할 수 있었던 프로젝트였습니다.</a:t>
            </a:r>
            <a:endParaRPr b="1" sz="1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g3b4dad8aa3a_0_560"/>
          <p:cNvSpPr/>
          <p:nvPr/>
        </p:nvSpPr>
        <p:spPr>
          <a:xfrm>
            <a:off x="1019450" y="2592838"/>
            <a:ext cx="35148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2"/>
              <a:buFont typeface="Calibri"/>
              <a:buNone/>
            </a:pPr>
            <a:r>
              <a:rPr b="1" lang="en-US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향후과제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g3b4dad8aa3a_0_560"/>
          <p:cNvSpPr/>
          <p:nvPr/>
        </p:nvSpPr>
        <p:spPr>
          <a:xfrm>
            <a:off x="571500" y="2571694"/>
            <a:ext cx="347400" cy="359700"/>
          </a:xfrm>
          <a:prstGeom prst="roundRect">
            <a:avLst>
              <a:gd fmla="val 16667" name="adj"/>
            </a:avLst>
          </a:prstGeom>
          <a:solidFill>
            <a:srgbClr val="0066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3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17" name="Google Shape;317;g3b4dad8aa3a_0_560"/>
          <p:cNvSpPr/>
          <p:nvPr/>
        </p:nvSpPr>
        <p:spPr>
          <a:xfrm>
            <a:off x="571500" y="3167164"/>
            <a:ext cx="3714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SzPts val="885"/>
              <a:buFont typeface="Calibri"/>
              <a:buNone/>
            </a:pPr>
            <a:r>
              <a:rPr b="1" lang="en-US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범용성 확장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g3b4dad8aa3a_0_560"/>
          <p:cNvSpPr/>
          <p:nvPr/>
        </p:nvSpPr>
        <p:spPr>
          <a:xfrm>
            <a:off x="4895700" y="3729000"/>
            <a:ext cx="37149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798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798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사용자의 손가락 굴곡 데이터를 추가분석하여 팜(Palm), 클로(Claw), 핑거(Finger) 등 그립 유형별 최적 모델 추천 AI 연계</a:t>
            </a:r>
            <a:endParaRPr b="1" sz="1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985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t/>
            </a:r>
            <a:endParaRPr b="1" sz="1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g3b4dad8aa3a_0_560"/>
          <p:cNvSpPr/>
          <p:nvPr/>
        </p:nvSpPr>
        <p:spPr>
          <a:xfrm>
            <a:off x="4895700" y="3164814"/>
            <a:ext cx="3714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SzPts val="885"/>
              <a:buFont typeface="Calibri"/>
              <a:buNone/>
            </a:pPr>
            <a:r>
              <a:rPr b="1" lang="en-US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그립 분석 고도화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2026-01-06T05:35:14Z</dcterms:created>
  <dc:creator>PptxGenJS</dc:creator>
</cp:coreProperties>
</file>